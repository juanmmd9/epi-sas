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4" r:id="rId4"/>
    <p:sldId id="257" r:id="rId5"/>
    <p:sldId id="258" r:id="rId6"/>
    <p:sldId id="270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" initials="D" lastIdx="1" clrIdx="0">
    <p:extLst>
      <p:ext uri="{19B8F6BF-5375-455C-9EA6-DF929625EA0E}">
        <p15:presenceInfo xmlns:p15="http://schemas.microsoft.com/office/powerpoint/2012/main" userId="Dav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FF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47404-541A-48B3-B77F-179297ACFE7E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39A35-B460-45A4-8134-FD0ABAE217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691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Marcador de imagen de diapositiva 1">
            <a:extLst>
              <a:ext uri="{FF2B5EF4-FFF2-40B4-BE49-F238E27FC236}">
                <a16:creationId xmlns:a16="http://schemas.microsoft.com/office/drawing/2014/main" id="{C556EB88-145A-469F-8BC1-57C159BB26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Marcador de posición de notas 2">
            <a:extLst>
              <a:ext uri="{FF2B5EF4-FFF2-40B4-BE49-F238E27FC236}">
                <a16:creationId xmlns:a16="http://schemas.microsoft.com/office/drawing/2014/main" id="{26874492-F6B6-4295-AD9D-26CD7FD5BE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3556" name="Marcador de número de diapositiva 3">
            <a:extLst>
              <a:ext uri="{FF2B5EF4-FFF2-40B4-BE49-F238E27FC236}">
                <a16:creationId xmlns:a16="http://schemas.microsoft.com/office/drawing/2014/main" id="{2391879C-FE8C-45F0-869C-E0D8F4D9A7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C908FA-42E7-467E-A781-DC0E2C681E83}" type="slidenum">
              <a:rPr lang="es-ES" altLang="es-CO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s-ES" alt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794E5-7D7E-0247-E20E-66B388A9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8FE42E-6619-9DA5-AD1E-9520417D8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1DE54-3914-E28F-385C-1D7121F0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9722BC-043B-E21C-90F5-F9F485DD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591DBD-E446-93BA-D553-3B187932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329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B28B1-127D-4394-2DC4-F47169CCA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9E8BEF-94F6-DBCE-5C9C-6DAA7BF30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E971CE-3565-CB23-9CCE-55199C6D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99C9AA-24A7-FF32-BF3C-E2295D4C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5C92B0-EC82-3692-76A2-92547AEA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636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AC860-0EF3-3C3E-FA3A-89F36B1F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8A913F-1168-A49B-786C-79A1B2295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737119-EF97-10FA-3A01-CCAFB085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845822-0C4A-8BEA-0881-FDCA64E7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564AC1-6BC6-4B79-DEF1-4B8522F7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596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9F220-5005-1E7F-31AB-588823D9D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79165B-5565-1D5D-97A5-142CA5F39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2D0134-09AA-78E7-7B78-195781F50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C86209-276E-73C7-F801-A7367301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E55632-5CF0-A616-B58B-8406B2A7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66A9C8-7DED-9B74-6738-7DDE88B8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455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86CED-FD3A-24C3-2D6C-AAE3CF51E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F57227-6051-3776-385E-B0C5CD2D7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C6F723-F0A0-B94E-526A-D77F86139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D4B2CF-35E7-74D9-2EBB-EAD5FE97F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BEC6E2-F6E6-DE37-5851-31A057F11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1527824-1796-7DBD-166F-C2A5CCED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7F0CDE-950D-3BC0-5D56-83AE6E44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4875A5-84B1-826C-0492-0AB54037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122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E8BCB-CA2D-56EC-21BF-93249CBC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89C0A9-E17C-38E1-0B87-7EF61D6F5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9E284B9-B200-88BF-8361-3FC8478A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120778-58C0-17D7-04A4-CB4C3D28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757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B9A7C6-7263-E420-6946-068E6B33B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FBA285-CE22-54CB-89A2-28A49504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945D6B-DF78-5033-38C7-33BE7D9E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766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EB99E-2629-E3CF-3712-8C534FC74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2AA81B-FE4E-8F3B-D17F-BDC17E08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1AC44C-1EC5-AD3B-F89C-87D2B8A10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2EF75-51E2-78E1-863B-A5AA534A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7DDA23-34B9-1C8B-5BAD-0C4D40140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C5BE08-D24E-4EDB-E8DE-CE01684C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242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30BA3-8208-BE09-627A-F73F6959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BA8F28-BE74-83FF-11E0-A4C5B4E16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832D03-7AF5-192A-6316-864E13A7E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DA4D07-F9CE-3390-A874-0EB23C288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832D17-FFD7-AB6F-AF6D-4F8BF63F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08674F-5BB4-7128-3F41-82FA707E6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704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CFA6F-7CD4-1677-5E59-EE6FB06E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DC6BDD-F24B-DA4A-6917-29839942A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C65389-A9BE-6A3D-7BB4-19F6506C0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A85981-2FE6-CA99-D888-73ED566B4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D1D730-1FD0-C233-40F8-E7E61DBB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243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A74DC1-45F4-4033-C0E1-1BF2692C1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B6CDD8-3D7A-1845-5AB4-55ACE3A24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71EF63-28E4-44E9-A5CC-41316C3E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B27073-5B0C-F32B-36D3-7791D62D9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BE2EAE-9B87-E7FE-99E3-9D6AEEE3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5562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contenid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6">
            <a:extLst>
              <a:ext uri="{FF2B5EF4-FFF2-40B4-BE49-F238E27FC236}">
                <a16:creationId xmlns:a16="http://schemas.microsoft.com/office/drawing/2014/main" id="{918C0837-477A-4A08-8346-AAFFB45912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3813" y="1452563"/>
            <a:ext cx="2862263" cy="133350"/>
            <a:chOff x="-24055" y="1452565"/>
            <a:chExt cx="2374534" cy="0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94CA4FB4-90C9-4B1D-A7F7-02B9D4E3F5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356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21BAC93E-7372-4766-BF0F-879FBD2053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5245" y="1452565"/>
              <a:ext cx="5452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E31E94F-B606-4762-B32F-4F000E67F256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0138" y="420688"/>
            <a:ext cx="0" cy="5768975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4A210D3F-F50A-485A-8A64-332EC84AA551}"/>
              </a:ext>
            </a:extLst>
          </p:cNvPr>
          <p:cNvSpPr/>
          <p:nvPr userDrawn="1"/>
        </p:nvSpPr>
        <p:spPr>
          <a:xfrm>
            <a:off x="10252075" y="555625"/>
            <a:ext cx="3297238" cy="329723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39F3177-A20E-4E7F-874C-7470302C1412}"/>
              </a:ext>
            </a:extLst>
          </p:cNvPr>
          <p:cNvSpPr/>
          <p:nvPr userDrawn="1"/>
        </p:nvSpPr>
        <p:spPr>
          <a:xfrm>
            <a:off x="9932988" y="330200"/>
            <a:ext cx="1268412" cy="1268413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grpSp>
        <p:nvGrpSpPr>
          <p:cNvPr id="18" name="Grupo 12">
            <a:extLst>
              <a:ext uri="{FF2B5EF4-FFF2-40B4-BE49-F238E27FC236}">
                <a16:creationId xmlns:a16="http://schemas.microsoft.com/office/drawing/2014/main" id="{AEAA2729-C5CF-42AE-998C-24551885CF8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63538" y="420688"/>
            <a:ext cx="749300" cy="134937"/>
            <a:chOff x="4827813" y="2534636"/>
            <a:chExt cx="996651" cy="178504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E5A06ED6-0042-4580-B1F1-A7B53492548C}"/>
                </a:ext>
              </a:extLst>
            </p:cNvPr>
            <p:cNvSpPr/>
            <p:nvPr/>
          </p:nvSpPr>
          <p:spPr>
            <a:xfrm>
              <a:off x="4827813" y="2534636"/>
              <a:ext cx="179481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dirty="0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546D2881-C20A-4CA2-8AEE-980903F4A9C3}"/>
                </a:ext>
              </a:extLst>
            </p:cNvPr>
            <p:cNvSpPr/>
            <p:nvPr/>
          </p:nvSpPr>
          <p:spPr>
            <a:xfrm>
              <a:off x="5091756" y="2534636"/>
              <a:ext cx="179482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93AF5BA8-A571-4197-B4CE-815522B6A5ED}"/>
                </a:ext>
              </a:extLst>
            </p:cNvPr>
            <p:cNvSpPr/>
            <p:nvPr/>
          </p:nvSpPr>
          <p:spPr>
            <a:xfrm>
              <a:off x="5368369" y="2534636"/>
              <a:ext cx="179481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CE6888B2-A767-4E3F-91B2-237E731B4797}"/>
                </a:ext>
              </a:extLst>
            </p:cNvPr>
            <p:cNvSpPr/>
            <p:nvPr/>
          </p:nvSpPr>
          <p:spPr>
            <a:xfrm>
              <a:off x="5644982" y="2534636"/>
              <a:ext cx="179482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3416" y="246186"/>
            <a:ext cx="3206261" cy="1037492"/>
          </a:xfrm>
        </p:spPr>
        <p:txBody>
          <a:bodyPr rtlCol="0">
            <a:noAutofit/>
          </a:bodyPr>
          <a:lstStyle>
            <a:lvl1pPr>
              <a:defRPr sz="3200" b="1" cap="all" baseline="0"/>
            </a:lvl1pPr>
          </a:lstStyle>
          <a:p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080986" y="2426274"/>
            <a:ext cx="3008434" cy="601087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4080986" y="3097702"/>
            <a:ext cx="3008434" cy="3091961"/>
          </a:xfrm>
        </p:spPr>
        <p:txBody>
          <a:bodyPr lIns="0" tIns="0" rIns="0" bIns="0" rtlCol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1" name="Marcador de contenido 16"/>
          <p:cNvSpPr>
            <a:spLocks noGrp="1"/>
          </p:cNvSpPr>
          <p:nvPr>
            <p:ph sz="quarter" idx="14"/>
          </p:nvPr>
        </p:nvSpPr>
        <p:spPr>
          <a:xfrm>
            <a:off x="363415" y="6462713"/>
            <a:ext cx="2617200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9" name="Marcador de posición de texto 2"/>
          <p:cNvSpPr>
            <a:spLocks noGrp="1"/>
          </p:cNvSpPr>
          <p:nvPr>
            <p:ph type="body" idx="15"/>
          </p:nvPr>
        </p:nvSpPr>
        <p:spPr>
          <a:xfrm>
            <a:off x="7870582" y="2426274"/>
            <a:ext cx="3008434" cy="601087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contenido 3"/>
          <p:cNvSpPr>
            <a:spLocks noGrp="1"/>
          </p:cNvSpPr>
          <p:nvPr>
            <p:ph sz="half" idx="16"/>
          </p:nvPr>
        </p:nvSpPr>
        <p:spPr>
          <a:xfrm>
            <a:off x="7870582" y="3097702"/>
            <a:ext cx="3008434" cy="3091961"/>
          </a:xfrm>
        </p:spPr>
        <p:txBody>
          <a:bodyPr lIns="0" tIns="0" rIns="0" bIns="0" rtlCol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3" name="Marcador de posición de imagen 8"/>
          <p:cNvSpPr>
            <a:spLocks noGrp="1"/>
          </p:cNvSpPr>
          <p:nvPr>
            <p:ph type="pic" sz="quarter" idx="18"/>
          </p:nvPr>
        </p:nvSpPr>
        <p:spPr>
          <a:xfrm>
            <a:off x="4080986" y="1676296"/>
            <a:ext cx="587932" cy="587932"/>
          </a:xfrm>
          <a:noFill/>
        </p:spPr>
        <p:txBody>
          <a:bodyPr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4" name="Marcador de posición de imagen 8"/>
          <p:cNvSpPr>
            <a:spLocks noGrp="1"/>
          </p:cNvSpPr>
          <p:nvPr>
            <p:ph type="pic" sz="quarter" idx="19"/>
          </p:nvPr>
        </p:nvSpPr>
        <p:spPr>
          <a:xfrm>
            <a:off x="7868008" y="1676296"/>
            <a:ext cx="587932" cy="587932"/>
          </a:xfrm>
          <a:noFill/>
        </p:spPr>
        <p:txBody>
          <a:bodyPr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9" name="Marcador de texto 2"/>
          <p:cNvSpPr>
            <a:spLocks noGrp="1"/>
          </p:cNvSpPr>
          <p:nvPr>
            <p:ph type="body" idx="20"/>
          </p:nvPr>
        </p:nvSpPr>
        <p:spPr>
          <a:xfrm>
            <a:off x="4080985" y="480157"/>
            <a:ext cx="6944563" cy="823912"/>
          </a:xfrm>
        </p:spPr>
        <p:txBody>
          <a:bodyPr lIns="0" tIns="0" rIns="0" bIns="0" rtlCol="0" anchor="ctr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número de diapositiva 5">
            <a:extLst>
              <a:ext uri="{FF2B5EF4-FFF2-40B4-BE49-F238E27FC236}">
                <a16:creationId xmlns:a16="http://schemas.microsoft.com/office/drawing/2014/main" id="{05929E1A-2C9E-45D4-8527-301BD13069D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9085263" y="6462713"/>
            <a:ext cx="2743200" cy="249237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>
              <a:defRPr/>
            </a:pPr>
            <a:fld id="{797CA17C-EC6A-44A8-B8DB-36E478E4CD57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15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C1A2596-72EF-022A-62E1-19DA97EB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F0B1B8-87B9-E075-172E-46F86776A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55E559-ED07-E2E2-8556-8A5663870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FDE170-15EB-EEFF-5425-791246FA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989AAF-DD1C-6A2E-8D8D-7469EDC3A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130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A203D-9CCD-6119-B66E-CD526BA1A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B620CA-7B03-704F-67D0-D889E89FB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992669-B07F-18D4-631E-B157C0A26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710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C5FA1-5D70-36ED-3143-08A278E0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8B8434-6DC3-890E-816C-9EFA8DE36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61EBB9-99F0-AD70-C3D0-D6D200623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3A7A57B-1E92-416A-9D5E-CAF618339D17}"/>
              </a:ext>
            </a:extLst>
          </p:cNvPr>
          <p:cNvSpPr txBox="1"/>
          <p:nvPr/>
        </p:nvSpPr>
        <p:spPr>
          <a:xfrm>
            <a:off x="2457973" y="2129631"/>
            <a:ext cx="68789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SANDRA ANGEL OCAMPO</a:t>
            </a:r>
          </a:p>
          <a:p>
            <a:pPr algn="ctr"/>
            <a:r>
              <a:rPr lang="es-E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DIRECTORA DEL SGC</a:t>
            </a:r>
          </a:p>
          <a:p>
            <a:pPr algn="ctr"/>
            <a:endParaRPr lang="es-ES" sz="4800" dirty="0">
              <a:latin typeface="Arial Narrow" panose="020B0606020202030204" pitchFamily="34" charset="0"/>
            </a:endParaRPr>
          </a:p>
          <a:p>
            <a:pPr algn="ctr"/>
            <a:r>
              <a:rPr lang="es-E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DIRECCIONAMIENTO ESTRATÉGICO</a:t>
            </a:r>
            <a:endParaRPr lang="es-CO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14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791A8BB8-24FC-46B6-AE0E-E317F113E457}"/>
              </a:ext>
            </a:extLst>
          </p:cNvPr>
          <p:cNvSpPr txBox="1">
            <a:spLocks/>
          </p:cNvSpPr>
          <p:nvPr/>
        </p:nvSpPr>
        <p:spPr>
          <a:xfrm>
            <a:off x="219075" y="225425"/>
            <a:ext cx="3321050" cy="1008063"/>
          </a:xfrm>
          <a:prstGeom prst="rect">
            <a:avLst/>
          </a:prstGeom>
        </p:spPr>
        <p:txBody>
          <a:bodyPr lIns="0" tIns="0" rIns="0" bIns="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es-CO" dirty="0">
                <a:solidFill>
                  <a:schemeClr val="tx2"/>
                </a:solidFill>
              </a:rPr>
              <a:t>¿Quiénes somos?</a:t>
            </a:r>
          </a:p>
        </p:txBody>
      </p:sp>
      <p:pic>
        <p:nvPicPr>
          <p:cNvPr id="22532" name="Imagen 25">
            <a:extLst>
              <a:ext uri="{FF2B5EF4-FFF2-40B4-BE49-F238E27FC236}">
                <a16:creationId xmlns:a16="http://schemas.microsoft.com/office/drawing/2014/main" id="{D94247AE-4872-4D10-A2D0-CAF1E8527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213" y="392113"/>
            <a:ext cx="5311775" cy="222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CuadroTexto 26">
            <a:extLst>
              <a:ext uri="{FF2B5EF4-FFF2-40B4-BE49-F238E27FC236}">
                <a16:creationId xmlns:a16="http://schemas.microsoft.com/office/drawing/2014/main" id="{E11647A8-ACBF-4A60-B4E1-EB7415A9F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728663"/>
            <a:ext cx="935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CO" altLang="es-CO" b="1"/>
              <a:t>Logo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24FBEE82-38F6-468D-BA16-A2588F0D358F}"/>
              </a:ext>
            </a:extLst>
          </p:cNvPr>
          <p:cNvCxnSpPr>
            <a:cxnSpLocks/>
          </p:cNvCxnSpPr>
          <p:nvPr/>
        </p:nvCxnSpPr>
        <p:spPr>
          <a:xfrm flipH="1">
            <a:off x="9278938" y="1012825"/>
            <a:ext cx="768350" cy="490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5" name="CuadroTexto 28">
            <a:extLst>
              <a:ext uri="{FF2B5EF4-FFF2-40B4-BE49-F238E27FC236}">
                <a16:creationId xmlns:a16="http://schemas.microsoft.com/office/drawing/2014/main" id="{B7234DAE-71DE-4FDE-97FC-049DDFF85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2473325"/>
            <a:ext cx="295275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CO" altLang="es-CO" sz="3200" dirty="0">
                <a:solidFill>
                  <a:schemeClr val="tx2"/>
                </a:solidFill>
                <a:latin typeface="Bauhaus 93" panose="04030905020B02020C02" pitchFamily="82" charset="0"/>
              </a:rPr>
              <a:t>32</a:t>
            </a:r>
            <a:r>
              <a:rPr lang="es-CO" altLang="es-CO" dirty="0">
                <a:solidFill>
                  <a:schemeClr val="tx2"/>
                </a:solidFill>
                <a:latin typeface="Bauhaus 93" panose="04030905020B02020C02" pitchFamily="82" charset="0"/>
              </a:rPr>
              <a:t> años en el mercado local y nacional  </a:t>
            </a:r>
          </a:p>
        </p:txBody>
      </p:sp>
      <p:sp>
        <p:nvSpPr>
          <p:cNvPr id="22536" name="CuadroTexto 29">
            <a:extLst>
              <a:ext uri="{FF2B5EF4-FFF2-40B4-BE49-F238E27FC236}">
                <a16:creationId xmlns:a16="http://schemas.microsoft.com/office/drawing/2014/main" id="{D2AA98BC-0581-4382-A583-9FA20D998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4654550"/>
            <a:ext cx="29527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CO" altLang="es-CO" sz="1600">
                <a:solidFill>
                  <a:schemeClr val="tx2"/>
                </a:solidFill>
                <a:latin typeface="Broadway" panose="04040905080B02020502" pitchFamily="82" charset="0"/>
              </a:rPr>
              <a:t>seguridad en alturas</a:t>
            </a:r>
          </a:p>
        </p:txBody>
      </p:sp>
      <p:sp>
        <p:nvSpPr>
          <p:cNvPr id="22537" name="CuadroTexto 30">
            <a:extLst>
              <a:ext uri="{FF2B5EF4-FFF2-40B4-BE49-F238E27FC236}">
                <a16:creationId xmlns:a16="http://schemas.microsoft.com/office/drawing/2014/main" id="{78F093FB-999C-46E0-AF48-A1780DE60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3865563"/>
            <a:ext cx="3378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CO" altLang="es-CO" sz="2400">
                <a:solidFill>
                  <a:schemeClr val="tx2"/>
                </a:solidFill>
                <a:latin typeface="Blackadder ITC" panose="04020505051007020D02" pitchFamily="82" charset="0"/>
              </a:rPr>
              <a:t>Diversificación de productos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F458513-A570-41F9-8C7C-F1123E488FDB}"/>
              </a:ext>
            </a:extLst>
          </p:cNvPr>
          <p:cNvSpPr txBox="1"/>
          <p:nvPr/>
        </p:nvSpPr>
        <p:spPr>
          <a:xfrm>
            <a:off x="8477250" y="2979738"/>
            <a:ext cx="2952750" cy="1476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1600" dirty="0">
                <a:solidFill>
                  <a:schemeClr val="tx2"/>
                </a:solidFill>
                <a:latin typeface="Castellar" panose="020A0402060406010301" pitchFamily="18" charset="0"/>
              </a:rPr>
              <a:t>3 plantas DE PRODUCCION</a:t>
            </a:r>
            <a:r>
              <a:rPr lang="es-CO" dirty="0">
                <a:solidFill>
                  <a:schemeClr val="tx2"/>
                </a:solidFill>
                <a:latin typeface="Castellar" panose="020A0402060406010301" pitchFamily="18" charset="0"/>
              </a:rPr>
              <a:t>:</a:t>
            </a:r>
          </a:p>
          <a:p>
            <a:pPr marL="285750" indent="-285750"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s-CO" dirty="0">
                <a:solidFill>
                  <a:schemeClr val="tx2"/>
                </a:solidFill>
                <a:latin typeface="Bodoni MT Black" panose="02070A03080606020203" pitchFamily="18" charset="0"/>
              </a:rPr>
              <a:t>Confección</a:t>
            </a:r>
          </a:p>
          <a:p>
            <a:pPr marL="285750" indent="-285750"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s-CO" dirty="0">
                <a:solidFill>
                  <a:schemeClr val="tx2"/>
                </a:solidFill>
                <a:latin typeface="Bodoni MT Black" panose="02070A03080606020203" pitchFamily="18" charset="0"/>
              </a:rPr>
              <a:t>Tejidos</a:t>
            </a:r>
          </a:p>
          <a:p>
            <a:pPr marL="285750" indent="-285750"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s-CO" dirty="0">
                <a:solidFill>
                  <a:schemeClr val="tx2"/>
                </a:solidFill>
                <a:latin typeface="Bodoni MT Black" panose="02070A03080606020203" pitchFamily="18" charset="0"/>
              </a:rPr>
              <a:t>Plásticos</a:t>
            </a:r>
          </a:p>
        </p:txBody>
      </p:sp>
      <p:sp>
        <p:nvSpPr>
          <p:cNvPr id="22539" name="CuadroTexto 32">
            <a:extLst>
              <a:ext uri="{FF2B5EF4-FFF2-40B4-BE49-F238E27FC236}">
                <a16:creationId xmlns:a16="http://schemas.microsoft.com/office/drawing/2014/main" id="{85D10F3A-1E12-4141-A6AB-E02BD42EC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1951038"/>
            <a:ext cx="2952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CO" altLang="es-CO">
                <a:solidFill>
                  <a:schemeClr val="tx2"/>
                </a:solidFill>
                <a:latin typeface="Calisto MT" panose="02040603050505030304" pitchFamily="18" charset="0"/>
              </a:rPr>
              <a:t>Empresa caleña certificada</a:t>
            </a:r>
          </a:p>
        </p:txBody>
      </p:sp>
      <p:sp>
        <p:nvSpPr>
          <p:cNvPr id="22540" name="CuadroTexto 33">
            <a:extLst>
              <a:ext uri="{FF2B5EF4-FFF2-40B4-BE49-F238E27FC236}">
                <a16:creationId xmlns:a16="http://schemas.microsoft.com/office/drawing/2014/main" id="{0373549B-5A13-4535-BE61-BD8412422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88" y="3335338"/>
            <a:ext cx="2819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CO" altLang="es-CO" sz="2400">
                <a:solidFill>
                  <a:schemeClr val="tx2"/>
                </a:solidFill>
                <a:latin typeface="Bodoni MT Poster Compressed" panose="02070706080601050204" pitchFamily="18" charset="0"/>
              </a:rPr>
              <a:t>Sistema de Gestión de Calidad</a:t>
            </a:r>
          </a:p>
        </p:txBody>
      </p:sp>
      <p:sp>
        <p:nvSpPr>
          <p:cNvPr id="22541" name="CuadroTexto 34">
            <a:extLst>
              <a:ext uri="{FF2B5EF4-FFF2-40B4-BE49-F238E27FC236}">
                <a16:creationId xmlns:a16="http://schemas.microsoft.com/office/drawing/2014/main" id="{02617144-5211-4B53-B480-64C926997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25" y="4170363"/>
            <a:ext cx="2952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CO" altLang="es-CO">
                <a:solidFill>
                  <a:schemeClr val="tx2"/>
                </a:solidFill>
                <a:latin typeface="Berlin Sans FB" panose="020E0602020502020306" pitchFamily="34" charset="0"/>
              </a:rPr>
              <a:t>Sistema de Seguridad y Salud en el Trabajo</a:t>
            </a:r>
          </a:p>
        </p:txBody>
      </p:sp>
      <p:sp>
        <p:nvSpPr>
          <p:cNvPr id="22542" name="CuadroTexto 35">
            <a:extLst>
              <a:ext uri="{FF2B5EF4-FFF2-40B4-BE49-F238E27FC236}">
                <a16:creationId xmlns:a16="http://schemas.microsoft.com/office/drawing/2014/main" id="{AB94CDB3-6FF5-492F-9E0F-202004B46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0" y="4849813"/>
            <a:ext cx="29511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CO" altLang="es-CO">
                <a:solidFill>
                  <a:schemeClr val="tx2"/>
                </a:solidFill>
                <a:latin typeface="Castellar" panose="020A0402060406010301" pitchFamily="18" charset="0"/>
              </a:rPr>
              <a:t>Laboratorio propio de ensayos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A203D-9CCD-6119-B66E-CD526BA1A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B620CA-7B03-704F-67D0-D889E89FB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CACF232-BAC9-CD88-0CDD-BB776348B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ítulo 8">
            <a:extLst>
              <a:ext uri="{FF2B5EF4-FFF2-40B4-BE49-F238E27FC236}">
                <a16:creationId xmlns:a16="http://schemas.microsoft.com/office/drawing/2014/main" id="{ED4A120A-74D1-470A-9FAB-93DE63153381}"/>
              </a:ext>
            </a:extLst>
          </p:cNvPr>
          <p:cNvSpPr txBox="1">
            <a:spLocks/>
          </p:cNvSpPr>
          <p:nvPr/>
        </p:nvSpPr>
        <p:spPr>
          <a:xfrm>
            <a:off x="7474591" y="878390"/>
            <a:ext cx="2994869" cy="1123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s-ES_tradnl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CF38F9-B215-4FA5-B121-555DC01090DF}"/>
              </a:ext>
            </a:extLst>
          </p:cNvPr>
          <p:cNvSpPr/>
          <p:nvPr/>
        </p:nvSpPr>
        <p:spPr>
          <a:xfrm>
            <a:off x="2239861" y="2580693"/>
            <a:ext cx="793598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200" dirty="0"/>
              <a:t>Para el 2027 E.P.I.  continuara ganando participación en el mercado nacional con las líneas especializadas y ampliando el portafolio de productos, además continuara incursionando en el mercado internacional.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317007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A203D-9CCD-6119-B66E-CD526BA1A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B620CA-7B03-704F-67D0-D889E89FB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465505-E542-3BE8-01C7-712964BE0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ítulo 8">
            <a:extLst>
              <a:ext uri="{FF2B5EF4-FFF2-40B4-BE49-F238E27FC236}">
                <a16:creationId xmlns:a16="http://schemas.microsoft.com/office/drawing/2014/main" id="{DE0AC60C-7F03-4908-8ACA-A3FE1655B3DB}"/>
              </a:ext>
            </a:extLst>
          </p:cNvPr>
          <p:cNvSpPr txBox="1">
            <a:spLocks/>
          </p:cNvSpPr>
          <p:nvPr/>
        </p:nvSpPr>
        <p:spPr>
          <a:xfrm>
            <a:off x="7474591" y="878390"/>
            <a:ext cx="2994869" cy="1123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s-ES_tradnl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MISION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CD2271C-4DAE-4A81-8198-9F54DFF9EFE0}"/>
              </a:ext>
            </a:extLst>
          </p:cNvPr>
          <p:cNvSpPr/>
          <p:nvPr/>
        </p:nvSpPr>
        <p:spPr>
          <a:xfrm>
            <a:off x="1117134" y="2799232"/>
            <a:ext cx="995773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altLang="es-CO" sz="2800" dirty="0">
                <a:ea typeface="Calibri" panose="020F0502020204030204" pitchFamily="34" charset="0"/>
                <a:cs typeface="Times New Roman" panose="02020603050405020304" pitchFamily="18" charset="0"/>
              </a:rPr>
              <a:t>Contribuimos a salvar vidas en riesgo de caída mediante el diseño, fabricación y distribución de productos y servicios para la seguridad industrial; fortaleciendo a través de la innovación el modelo de negocio actual e incorporando nuevas unidades de negocio, enfocados en la mejora continua de los productos y de nuestro SGC, logrando la satisfacción de nuestros usuarios, clientes, colaboradores, proveedores y accionistas. </a:t>
            </a:r>
            <a:endParaRPr lang="es-CO" altLang="es-CO" sz="1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33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397C218-887D-4573-9BFE-73997F30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4" y="0"/>
            <a:ext cx="12192000" cy="6858000"/>
          </a:xfrm>
          <a:prstGeom prst="rect">
            <a:avLst/>
          </a:prstGeom>
        </p:spPr>
      </p:pic>
      <p:sp>
        <p:nvSpPr>
          <p:cNvPr id="5" name="Título 8">
            <a:extLst>
              <a:ext uri="{FF2B5EF4-FFF2-40B4-BE49-F238E27FC236}">
                <a16:creationId xmlns:a16="http://schemas.microsoft.com/office/drawing/2014/main" id="{0C47D601-B0BB-4401-8DF7-9B126E3052A8}"/>
              </a:ext>
            </a:extLst>
          </p:cNvPr>
          <p:cNvSpPr txBox="1">
            <a:spLocks/>
          </p:cNvSpPr>
          <p:nvPr/>
        </p:nvSpPr>
        <p:spPr>
          <a:xfrm>
            <a:off x="6699871" y="472168"/>
            <a:ext cx="5452842" cy="1123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s-ES_tradnl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PILARES –OBJETIVOS ESTRATEGICOS</a:t>
            </a:r>
          </a:p>
        </p:txBody>
      </p:sp>
      <p:sp>
        <p:nvSpPr>
          <p:cNvPr id="6" name="AutoShape 2" descr="El Pilar Estratégico De Cuatro Pilares PNG ,dibujos Unidades, Columnas,  Puntal PNG Imagen para Descarga Gratuita | Pngtree">
            <a:extLst>
              <a:ext uri="{FF2B5EF4-FFF2-40B4-BE49-F238E27FC236}">
                <a16:creationId xmlns:a16="http://schemas.microsoft.com/office/drawing/2014/main" id="{EE599389-92C1-4863-9665-AAF05415D9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66EC174-D5B7-4E26-83F4-C0A5F3686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703" y="1124125"/>
            <a:ext cx="6425326" cy="57338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068F70D-353A-468E-A27B-11A99D0D2214}"/>
              </a:ext>
            </a:extLst>
          </p:cNvPr>
          <p:cNvSpPr txBox="1"/>
          <p:nvPr/>
        </p:nvSpPr>
        <p:spPr>
          <a:xfrm>
            <a:off x="4468288" y="862515"/>
            <a:ext cx="181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VISION</a:t>
            </a:r>
            <a:endParaRPr lang="es-CO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E095CE4-1246-4506-9DE9-463FAA501F27}"/>
              </a:ext>
            </a:extLst>
          </p:cNvPr>
          <p:cNvSpPr txBox="1"/>
          <p:nvPr/>
        </p:nvSpPr>
        <p:spPr>
          <a:xfrm>
            <a:off x="4436054" y="2239205"/>
            <a:ext cx="181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MISION</a:t>
            </a:r>
            <a:endParaRPr lang="es-CO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BFF1AB2-2E55-4F89-8CF2-E6E61C376516}"/>
              </a:ext>
            </a:extLst>
          </p:cNvPr>
          <p:cNvSpPr txBox="1"/>
          <p:nvPr/>
        </p:nvSpPr>
        <p:spPr>
          <a:xfrm rot="16200000">
            <a:off x="2458739" y="4298967"/>
            <a:ext cx="1896800" cy="461665"/>
          </a:xfrm>
          <a:prstGeom prst="rect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INNOVACIÓN</a:t>
            </a:r>
            <a:endParaRPr lang="es-CO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DAF21D4-36E6-4C87-9394-244339CC1966}"/>
              </a:ext>
            </a:extLst>
          </p:cNvPr>
          <p:cNvSpPr txBox="1"/>
          <p:nvPr/>
        </p:nvSpPr>
        <p:spPr>
          <a:xfrm rot="16200000">
            <a:off x="3463929" y="4481369"/>
            <a:ext cx="2443293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INTERNACIONALIZACIÓN</a:t>
            </a:r>
            <a:endParaRPr lang="es-CO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A187A2D-EDC6-42D5-A372-8B64D11BF915}"/>
              </a:ext>
            </a:extLst>
          </p:cNvPr>
          <p:cNvSpPr txBox="1"/>
          <p:nvPr/>
        </p:nvSpPr>
        <p:spPr>
          <a:xfrm rot="16200000">
            <a:off x="4759880" y="4502517"/>
            <a:ext cx="2443293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UNIDADES DE NEGOCIO</a:t>
            </a:r>
            <a:endParaRPr lang="es-CO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C576BC8-B63A-4F0A-94EE-53C26D106969}"/>
              </a:ext>
            </a:extLst>
          </p:cNvPr>
          <p:cNvSpPr txBox="1"/>
          <p:nvPr/>
        </p:nvSpPr>
        <p:spPr>
          <a:xfrm rot="16200000">
            <a:off x="6053504" y="4379407"/>
            <a:ext cx="2443293" cy="584775"/>
          </a:xfrm>
          <a:prstGeom prst="rect">
            <a:avLst/>
          </a:prstGeom>
          <a:solidFill>
            <a:srgbClr val="00B0F0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 DE GESTION DE CALIDAD</a:t>
            </a:r>
            <a:endParaRPr lang="es-CO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008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A203D-9CCD-6119-B66E-CD526BA1A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B620CA-7B03-704F-67D0-D889E89FB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3FB94BD-02C2-6CA3-F296-AD19EB45C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" y="0"/>
            <a:ext cx="12192000" cy="6858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24B69AA-9F91-4A44-AC0A-B8AD3C2EC85F}"/>
              </a:ext>
            </a:extLst>
          </p:cNvPr>
          <p:cNvSpPr/>
          <p:nvPr/>
        </p:nvSpPr>
        <p:spPr>
          <a:xfrm>
            <a:off x="501119" y="2374886"/>
            <a:ext cx="32788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n-lt"/>
              </a:rPr>
              <a:t>1. INNOVACIÓN</a:t>
            </a:r>
          </a:p>
        </p:txBody>
      </p:sp>
      <p:pic>
        <p:nvPicPr>
          <p:cNvPr id="1026" name="Picture 2" descr="Innovación tecnológica y productiva - Proyecto Unión Europea">
            <a:extLst>
              <a:ext uri="{FF2B5EF4-FFF2-40B4-BE49-F238E27FC236}">
                <a16:creationId xmlns:a16="http://schemas.microsoft.com/office/drawing/2014/main" id="{0CD96FF5-CECF-47F9-9C09-CFE6A2C0A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554" y="3090849"/>
            <a:ext cx="1467961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8">
            <a:extLst>
              <a:ext uri="{FF2B5EF4-FFF2-40B4-BE49-F238E27FC236}">
                <a16:creationId xmlns:a16="http://schemas.microsoft.com/office/drawing/2014/main" id="{9D1F5DA1-BBD2-4F27-A769-AA725D1EF89E}"/>
              </a:ext>
            </a:extLst>
          </p:cNvPr>
          <p:cNvSpPr txBox="1">
            <a:spLocks/>
          </p:cNvSpPr>
          <p:nvPr/>
        </p:nvSpPr>
        <p:spPr>
          <a:xfrm>
            <a:off x="6699871" y="472168"/>
            <a:ext cx="5452842" cy="1123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s-ES_tradnl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PILARES –OBJETIVOS ESTRATEGICOS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F44415F-BBB6-412E-BDCA-7C7EFDC57559}"/>
              </a:ext>
            </a:extLst>
          </p:cNvPr>
          <p:cNvSpPr/>
          <p:nvPr/>
        </p:nvSpPr>
        <p:spPr>
          <a:xfrm>
            <a:off x="893586" y="5029484"/>
            <a:ext cx="2493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altLang="es-CO" b="1" dirty="0">
                <a:solidFill>
                  <a:srgbClr val="00B050"/>
                </a:solidFill>
              </a:rPr>
              <a:t>Fortalecimiento y mantenimiento de E.P.I. en el tiempo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15E4189-6675-4879-A82D-7DFA86A807EF}"/>
              </a:ext>
            </a:extLst>
          </p:cNvPr>
          <p:cNvSpPr/>
          <p:nvPr/>
        </p:nvSpPr>
        <p:spPr>
          <a:xfrm>
            <a:off x="5761433" y="2374886"/>
            <a:ext cx="5103624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  <a:r>
              <a:rPr lang="es-E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n-lt"/>
              </a:rPr>
              <a:t>. INTERNACIONALIZACION</a:t>
            </a:r>
          </a:p>
        </p:txBody>
      </p:sp>
      <p:pic>
        <p:nvPicPr>
          <p:cNvPr id="13" name="Picture 4" descr="Cómo internacionalizar una empresa paso a paso?">
            <a:extLst>
              <a:ext uri="{FF2B5EF4-FFF2-40B4-BE49-F238E27FC236}">
                <a16:creationId xmlns:a16="http://schemas.microsoft.com/office/drawing/2014/main" id="{4E261348-CEB5-4967-B8CB-E872C0131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761" y="3131533"/>
            <a:ext cx="2290967" cy="149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ED47FFB8-0141-4385-8ED5-B625B3179B80}"/>
              </a:ext>
            </a:extLst>
          </p:cNvPr>
          <p:cNvSpPr/>
          <p:nvPr/>
        </p:nvSpPr>
        <p:spPr>
          <a:xfrm>
            <a:off x="6481647" y="4949276"/>
            <a:ext cx="38980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algn="ctr">
              <a:buFont typeface="Wingdings" panose="05000000000000000000" pitchFamily="2" charset="2"/>
              <a:buChar char="ü"/>
              <a:defRPr/>
            </a:pPr>
            <a:r>
              <a:rPr lang="es-ES" altLang="es-CO" b="1" dirty="0">
                <a:solidFill>
                  <a:srgbClr val="00B050"/>
                </a:solidFill>
              </a:rPr>
              <a:t>Fortalecer los países actuales </a:t>
            </a:r>
            <a:r>
              <a:rPr lang="es-ES" altLang="es-CO" b="1" dirty="0"/>
              <a:t>Ecuador</a:t>
            </a:r>
          </a:p>
          <a:p>
            <a:pPr algn="ctr">
              <a:defRPr/>
            </a:pPr>
            <a:r>
              <a:rPr lang="es-ES" altLang="es-CO" b="1" dirty="0"/>
              <a:t>Panamá</a:t>
            </a:r>
            <a:endParaRPr lang="es-CO" dirty="0"/>
          </a:p>
          <a:p>
            <a:pPr algn="ctr">
              <a:defRPr/>
            </a:pPr>
            <a:r>
              <a:rPr lang="es-ES" altLang="es-CO" b="1" dirty="0">
                <a:solidFill>
                  <a:srgbClr val="00B050"/>
                </a:solidFill>
              </a:rPr>
              <a:t>e ingresar a:</a:t>
            </a:r>
          </a:p>
          <a:p>
            <a:pPr algn="ctr">
              <a:defRPr/>
            </a:pPr>
            <a:r>
              <a:rPr lang="es-ES" altLang="es-CO" b="1" dirty="0"/>
              <a:t>Perú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623483F-F91E-4987-814F-EEB195C1AE32}"/>
              </a:ext>
            </a:extLst>
          </p:cNvPr>
          <p:cNvSpPr txBox="1"/>
          <p:nvPr/>
        </p:nvSpPr>
        <p:spPr>
          <a:xfrm>
            <a:off x="3322385" y="2998758"/>
            <a:ext cx="1838325" cy="29238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2400" b="1" dirty="0"/>
              <a:t>2019 </a:t>
            </a:r>
            <a:r>
              <a:rPr lang="es-ES" sz="2400" dirty="0"/>
              <a:t>= 17</a:t>
            </a:r>
          </a:p>
          <a:p>
            <a:pPr algn="ctr">
              <a:defRPr/>
            </a:pPr>
            <a:r>
              <a:rPr lang="es-ES" sz="2400" b="1" dirty="0"/>
              <a:t>2020</a:t>
            </a:r>
            <a:r>
              <a:rPr lang="es-ES" sz="2400" dirty="0"/>
              <a:t> = 35</a:t>
            </a:r>
          </a:p>
          <a:p>
            <a:pPr algn="ctr">
              <a:defRPr/>
            </a:pPr>
            <a:r>
              <a:rPr lang="es-ES" sz="2400" b="1" dirty="0"/>
              <a:t>2021</a:t>
            </a:r>
            <a:r>
              <a:rPr lang="es-ES" sz="2400" dirty="0"/>
              <a:t> = 29</a:t>
            </a:r>
          </a:p>
          <a:p>
            <a:pPr algn="ctr">
              <a:defRPr/>
            </a:pPr>
            <a:r>
              <a:rPr lang="es-ES" sz="2400" b="1" dirty="0"/>
              <a:t>2022= </a:t>
            </a:r>
            <a:r>
              <a:rPr lang="es-ES" sz="2400" dirty="0"/>
              <a:t>13</a:t>
            </a:r>
            <a:r>
              <a:rPr lang="es-ES" sz="2400" b="1" dirty="0"/>
              <a:t>  2023 </a:t>
            </a:r>
            <a:r>
              <a:rPr lang="es-ES" sz="2000" b="1" dirty="0"/>
              <a:t>= </a:t>
            </a:r>
            <a:r>
              <a:rPr lang="es-ES" sz="2400" b="1" dirty="0"/>
              <a:t>16 </a:t>
            </a:r>
          </a:p>
          <a:p>
            <a:pPr algn="ctr">
              <a:defRPr/>
            </a:pPr>
            <a:r>
              <a:rPr lang="es-E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TOTAL=</a:t>
            </a:r>
            <a:r>
              <a:rPr lang="es-E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s-E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134</a:t>
            </a:r>
            <a:r>
              <a:rPr lang="es-E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s-E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PRODUCTOS NUEVOS</a:t>
            </a:r>
            <a:endParaRPr lang="es-CO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555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4" grpId="0"/>
      <p:bldP spid="12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59271-9A87-3879-FB6C-04AD501E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FA2ECA-252F-51F6-B5FD-DA5E03740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CEA60A-2916-F27E-C777-770FFBDC9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74"/>
            <a:ext cx="12191799" cy="6845226"/>
          </a:xfrm>
          <a:prstGeom prst="rect">
            <a:avLst/>
          </a:prstGeom>
        </p:spPr>
      </p:pic>
      <p:sp>
        <p:nvSpPr>
          <p:cNvPr id="7" name="Título 8">
            <a:extLst>
              <a:ext uri="{FF2B5EF4-FFF2-40B4-BE49-F238E27FC236}">
                <a16:creationId xmlns:a16="http://schemas.microsoft.com/office/drawing/2014/main" id="{79773FFE-C29F-42E4-85F8-6ED1D5E58C15}"/>
              </a:ext>
            </a:extLst>
          </p:cNvPr>
          <p:cNvSpPr txBox="1">
            <a:spLocks/>
          </p:cNvSpPr>
          <p:nvPr/>
        </p:nvSpPr>
        <p:spPr>
          <a:xfrm>
            <a:off x="6699871" y="472168"/>
            <a:ext cx="5452842" cy="1123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s-ES_tradnl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PILARES –OBJETIVOS ESTRATEGICOS</a:t>
            </a:r>
          </a:p>
        </p:txBody>
      </p:sp>
      <p:pic>
        <p:nvPicPr>
          <p:cNvPr id="10" name="Picture 2" descr="El desarrollo de un sistema de gestión de calidad apoyado en la ISO  9001:2015 | KINENERGY">
            <a:extLst>
              <a:ext uri="{FF2B5EF4-FFF2-40B4-BE49-F238E27FC236}">
                <a16:creationId xmlns:a16="http://schemas.microsoft.com/office/drawing/2014/main" id="{5B688AD7-2117-499F-9EBF-B124CCFAD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4681" y="2748495"/>
            <a:ext cx="2994622" cy="2406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4866C4F-BBFD-45ED-875C-FF02F0924E88}"/>
              </a:ext>
            </a:extLst>
          </p:cNvPr>
          <p:cNvSpPr/>
          <p:nvPr/>
        </p:nvSpPr>
        <p:spPr>
          <a:xfrm>
            <a:off x="5941824" y="2297117"/>
            <a:ext cx="59207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n-lt"/>
              </a:rPr>
              <a:t>4. SISTEMA DE GESTION DE CALIDAD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896F54-F2A7-4731-9BE4-5C96801D9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086" y="5020688"/>
            <a:ext cx="319246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ES" altLang="es-CO" b="1" dirty="0">
                <a:solidFill>
                  <a:srgbClr val="00B050"/>
                </a:solidFill>
                <a:latin typeface="Century Gothic" panose="020B0502020202020204" pitchFamily="34" charset="0"/>
              </a:rPr>
              <a:t>Mantener y mejorar nuestro Sistema de Gestión de Calidad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6A3935A-CBC0-4DB0-8510-F751F69E9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04" y="3059035"/>
            <a:ext cx="2949015" cy="1710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A65FD836-2B23-47E0-832A-1233E20965B9}"/>
              </a:ext>
            </a:extLst>
          </p:cNvPr>
          <p:cNvSpPr/>
          <p:nvPr/>
        </p:nvSpPr>
        <p:spPr>
          <a:xfrm>
            <a:off x="148492" y="2297117"/>
            <a:ext cx="53602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  <a:r>
              <a:rPr lang="es-E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n-lt"/>
              </a:rPr>
              <a:t>. UNIDADES DE NEGOCIO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0148AE4-6490-4DA7-9FD8-C784BF76B583}"/>
              </a:ext>
            </a:extLst>
          </p:cNvPr>
          <p:cNvSpPr/>
          <p:nvPr/>
        </p:nvSpPr>
        <p:spPr>
          <a:xfrm>
            <a:off x="1000949" y="4969960"/>
            <a:ext cx="34109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s-ES" altLang="es-CO" b="1" dirty="0">
                <a:solidFill>
                  <a:srgbClr val="00B050"/>
                </a:solidFill>
                <a:latin typeface="Century Gothic" panose="020B0502020202020204" pitchFamily="34" charset="0"/>
              </a:rPr>
              <a:t>Implementar nuevas unidades de negocio y fortalecer las unidades de negocio actuales</a:t>
            </a:r>
          </a:p>
        </p:txBody>
      </p:sp>
    </p:spTree>
    <p:extLst>
      <p:ext uri="{BB962C8B-B14F-4D97-AF65-F5344CB8AC3E}">
        <p14:creationId xmlns:p14="http://schemas.microsoft.com/office/powerpoint/2010/main" val="352146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DB3EC-4423-54EF-5B76-3A98DBF7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699D2C-E8AB-A033-1EC4-4FB02B3A2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3784D1-5264-0F0A-41B1-C354DA7D2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925A4F-976A-691A-9B0D-9857BE1E4CE5}"/>
              </a:ext>
            </a:extLst>
          </p:cNvPr>
          <p:cNvSpPr txBox="1"/>
          <p:nvPr/>
        </p:nvSpPr>
        <p:spPr>
          <a:xfrm>
            <a:off x="2956264" y="3249227"/>
            <a:ext cx="720866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500" dirty="0"/>
              <a:t>GRACIAS</a:t>
            </a:r>
            <a:endParaRPr lang="es-CO" sz="11500" dirty="0"/>
          </a:p>
        </p:txBody>
      </p:sp>
    </p:spTree>
    <p:extLst>
      <p:ext uri="{BB962C8B-B14F-4D97-AF65-F5344CB8AC3E}">
        <p14:creationId xmlns:p14="http://schemas.microsoft.com/office/powerpoint/2010/main" val="3524690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271</Words>
  <Application>Microsoft Office PowerPoint</Application>
  <PresentationFormat>Panorámica</PresentationFormat>
  <Paragraphs>55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24" baseType="lpstr">
      <vt:lpstr>Arial</vt:lpstr>
      <vt:lpstr>Arial Narrow</vt:lpstr>
      <vt:lpstr>Bauhaus 93</vt:lpstr>
      <vt:lpstr>Berlin Sans FB</vt:lpstr>
      <vt:lpstr>Blackadder ITC</vt:lpstr>
      <vt:lpstr>Bodoni MT Black</vt:lpstr>
      <vt:lpstr>Bodoni MT Poster Compressed</vt:lpstr>
      <vt:lpstr>Broadway</vt:lpstr>
      <vt:lpstr>Calibri</vt:lpstr>
      <vt:lpstr>Calibri Light</vt:lpstr>
      <vt:lpstr>Calisto MT</vt:lpstr>
      <vt:lpstr>Castellar</vt:lpstr>
      <vt:lpstr>Century Gothic</vt:lpstr>
      <vt:lpstr>Wingdings</vt:lpstr>
      <vt:lpstr>Tema de Office</vt:lpstr>
      <vt:lpstr> </vt:lpstr>
      <vt:lpstr> </vt:lpstr>
      <vt:lpstr>Presentación de PowerPoint</vt:lpstr>
      <vt:lpstr> </vt:lpstr>
      <vt:lpstr> </vt:lpstr>
      <vt:lpstr>Presentación de PowerPoint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David</dc:creator>
  <cp:lastModifiedBy>Sandra Angel Ocampo</cp:lastModifiedBy>
  <cp:revision>43</cp:revision>
  <dcterms:created xsi:type="dcterms:W3CDTF">2024-03-22T13:34:27Z</dcterms:created>
  <dcterms:modified xsi:type="dcterms:W3CDTF">2026-02-02T19:15:29Z</dcterms:modified>
</cp:coreProperties>
</file>