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79" r:id="rId4"/>
    <p:sldId id="271" r:id="rId5"/>
    <p:sldId id="260" r:id="rId6"/>
    <p:sldId id="280" r:id="rId7"/>
    <p:sldId id="276" r:id="rId8"/>
    <p:sldId id="257" r:id="rId9"/>
    <p:sldId id="267" r:id="rId10"/>
    <p:sldId id="277" r:id="rId11"/>
    <p:sldId id="278" r:id="rId12"/>
    <p:sldId id="266" r:id="rId13"/>
    <p:sldId id="268" r:id="rId14"/>
    <p:sldId id="261" r:id="rId1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" initials="D" lastIdx="1" clrIdx="0">
    <p:extLst>
      <p:ext uri="{19B8F6BF-5375-455C-9EA6-DF929625EA0E}">
        <p15:presenceInfo xmlns:p15="http://schemas.microsoft.com/office/powerpoint/2012/main" userId="Davi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374" autoAdjust="0"/>
  </p:normalViewPr>
  <p:slideViewPr>
    <p:cSldViewPr snapToGrid="0">
      <p:cViewPr varScale="1">
        <p:scale>
          <a:sx n="110" d="100"/>
          <a:sy n="110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794E5-7D7E-0247-E20E-66B388A9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8FE42E-6619-9DA5-AD1E-9520417D8F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51DE54-3914-E28F-385C-1D7121F0A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E1CE-D93C-4BD5-9804-4DE086100C55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9722BC-043B-E21C-90F5-F9F485DDA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591DBD-E446-93BA-D553-3B1879320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18717-F8F9-4B72-9A92-79481A6408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3291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B28B1-127D-4394-2DC4-F47169CCA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9E8BEF-94F6-DBCE-5C9C-6DAA7BF30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E971CE-3565-CB23-9CCE-55199C6D1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E1CE-D93C-4BD5-9804-4DE086100C55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99C9AA-24A7-FF32-BF3C-E2295D4CB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5C92B0-EC82-3692-76A2-92547AEA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18717-F8F9-4B72-9A92-79481A6408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6362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0AC860-0EF3-3C3E-FA3A-89F36B1F3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8A913F-1168-A49B-786C-79A1B2295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737119-EF97-10FA-3A01-CCAFB085B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E1CE-D93C-4BD5-9804-4DE086100C55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845822-0C4A-8BEA-0881-FDCA64E7B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564AC1-6BC6-4B79-DEF1-4B8522F7B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18717-F8F9-4B72-9A92-79481A6408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5966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F9F220-5005-1E7F-31AB-588823D9D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79165B-5565-1D5D-97A5-142CA5F399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2D0134-09AA-78E7-7B78-195781F50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C86209-276E-73C7-F801-A73673013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E1CE-D93C-4BD5-9804-4DE086100C55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E55632-5CF0-A616-B58B-8406B2A70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66A9C8-7DED-9B74-6738-7DDE88B8C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18717-F8F9-4B72-9A92-79481A6408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4556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786CED-FD3A-24C3-2D6C-AAE3CF51E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F57227-6051-3776-385E-B0C5CD2D7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C6F723-F0A0-B94E-526A-D77F86139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AD4B2CF-35E7-74D9-2EBB-EAD5FE97F1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5BEC6E2-F6E6-DE37-5851-31A057F116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1527824-1796-7DBD-166F-C2A5CCED5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E1CE-D93C-4BD5-9804-4DE086100C55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7F0CDE-950D-3BC0-5D56-83AE6E449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34875A5-84B1-826C-0492-0AB54037A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18717-F8F9-4B72-9A92-79481A6408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1227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E8BCB-CA2D-56EC-21BF-93249CBC4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989C0A9-E17C-38E1-0B87-7EF61D6F5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E1CE-D93C-4BD5-9804-4DE086100C55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9E284B9-B200-88BF-8361-3FC8478A7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0120778-58C0-17D7-04A4-CB4C3D28F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18717-F8F9-4B72-9A92-79481A6408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757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2B9A7C6-7263-E420-6946-068E6B33B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E1CE-D93C-4BD5-9804-4DE086100C55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2FBA285-CE22-54CB-89A2-28A49504F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945D6B-DF78-5033-38C7-33BE7D9E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18717-F8F9-4B72-9A92-79481A6408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5766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BEB99E-2629-E3CF-3712-8C534FC74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2AA81B-FE4E-8F3B-D17F-BDC17E08D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1AC44C-1EC5-AD3B-F89C-87D2B8A10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02EF75-51E2-78E1-863B-A5AA534AB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E1CE-D93C-4BD5-9804-4DE086100C55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7DDA23-34B9-1C8B-5BAD-0C4D40140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C5BE08-D24E-4EDB-E8DE-CE01684C6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18717-F8F9-4B72-9A92-79481A6408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2423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30BA3-8208-BE09-627A-F73F69597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BA8F28-BE74-83FF-11E0-A4C5B4E16B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C832D03-7AF5-192A-6316-864E13A7E2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DA4D07-F9CE-3390-A874-0EB23C288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E1CE-D93C-4BD5-9804-4DE086100C55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832D17-FFD7-AB6F-AF6D-4F8BF63F6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08674F-5BB4-7128-3F41-82FA707E6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18717-F8F9-4B72-9A92-79481A6408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17045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2CFA6F-7CD4-1677-5E59-EE6FB06E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0DC6BDD-F24B-DA4A-6917-29839942A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C65389-A9BE-6A3D-7BB4-19F6506C0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E1CE-D93C-4BD5-9804-4DE086100C55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A85981-2FE6-CA99-D888-73ED566B4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D1D730-1FD0-C233-40F8-E7E61DBB6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18717-F8F9-4B72-9A92-79481A6408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2431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1A74DC1-45F4-4033-C0E1-1BF2692C1E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B6CDD8-3D7A-1845-5AB4-55ACE3A243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71EF63-28E4-44E9-A5CC-41316C3EB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E1CE-D93C-4BD5-9804-4DE086100C55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B27073-5B0C-F32B-36D3-7791D62D9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BE2EAE-9B87-E7FE-99E3-9D6AEEE36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18717-F8F9-4B72-9A92-79481A6408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5562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C1A2596-72EF-022A-62E1-19DA97EB7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F0B1B8-87B9-E075-172E-46F86776A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55E559-ED07-E2E2-8556-8A56638705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8E1CE-D93C-4BD5-9804-4DE086100C55}" type="datetimeFigureOut">
              <a:rPr lang="es-CO" smtClean="0"/>
              <a:t>2/02/2026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FDE170-15EB-EEFF-5425-791246FAA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989AAF-DD1C-6A2E-8D8D-7469EDC3A1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18717-F8F9-4B72-9A92-79481A6408A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130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A203D-9CCD-6119-B66E-CD526BA1A7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s-ES" dirty="0"/>
            </a:b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B620CA-7B03-704F-67D0-D889E89FB9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  <a:p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C992669-B07F-18D4-631E-B157C0A26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710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1C5FA1-5D70-36ED-3143-08A278E0E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s-ES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8B8434-6DC3-890E-816C-9EFA8DE366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261EBB9-99F0-AD70-C3D0-D6D200623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3A7A57B-1E92-416A-9D5E-CAF618339D17}"/>
              </a:ext>
            </a:extLst>
          </p:cNvPr>
          <p:cNvSpPr txBox="1"/>
          <p:nvPr/>
        </p:nvSpPr>
        <p:spPr>
          <a:xfrm>
            <a:off x="2457973" y="2129631"/>
            <a:ext cx="687897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SANDRA ANGEL OCAMPO</a:t>
            </a:r>
          </a:p>
          <a:p>
            <a:pPr algn="ctr"/>
            <a:r>
              <a:rPr lang="es-E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DIRECTORA DEL SGC</a:t>
            </a:r>
          </a:p>
          <a:p>
            <a:pPr algn="ctr"/>
            <a:endParaRPr lang="es-ES" sz="4800" dirty="0">
              <a:latin typeface="Arial Narrow" panose="020B0606020202030204" pitchFamily="34" charset="0"/>
            </a:endParaRPr>
          </a:p>
          <a:p>
            <a:pPr algn="ctr"/>
            <a:r>
              <a:rPr lang="es-E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SISTEMA DE GESTION DE CALIDAD</a:t>
            </a:r>
            <a:endParaRPr lang="es-CO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142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94057182-AE7C-4136-A100-7E2EAC11C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Título 5">
            <a:extLst>
              <a:ext uri="{FF2B5EF4-FFF2-40B4-BE49-F238E27FC236}">
                <a16:creationId xmlns:a16="http://schemas.microsoft.com/office/drawing/2014/main" id="{B13E9929-81F9-4013-B1FD-D44A96D433D7}"/>
              </a:ext>
            </a:extLst>
          </p:cNvPr>
          <p:cNvSpPr txBox="1">
            <a:spLocks/>
          </p:cNvSpPr>
          <p:nvPr/>
        </p:nvSpPr>
        <p:spPr>
          <a:xfrm>
            <a:off x="6174904" y="1784306"/>
            <a:ext cx="5706634" cy="8572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4000" b="1" dirty="0">
                <a:solidFill>
                  <a:srgbClr val="0070C0"/>
                </a:solidFill>
              </a:rPr>
              <a:t>SISTEMA GESTIÓN DE CALIDAD</a:t>
            </a:r>
            <a:br>
              <a:rPr lang="es-CO" sz="4000" b="1" dirty="0">
                <a:solidFill>
                  <a:srgbClr val="0070C0"/>
                </a:solidFill>
              </a:rPr>
            </a:br>
            <a:endParaRPr lang="es-CO" sz="4000" dirty="0">
              <a:solidFill>
                <a:srgbClr val="0070C0"/>
              </a:solidFill>
            </a:endParaRPr>
          </a:p>
        </p:txBody>
      </p:sp>
      <p:sp>
        <p:nvSpPr>
          <p:cNvPr id="5" name="2 Marcador de contenido">
            <a:extLst>
              <a:ext uri="{FF2B5EF4-FFF2-40B4-BE49-F238E27FC236}">
                <a16:creationId xmlns:a16="http://schemas.microsoft.com/office/drawing/2014/main" id="{C9226E46-F9C3-4D47-B264-37DE80418F8D}"/>
              </a:ext>
            </a:extLst>
          </p:cNvPr>
          <p:cNvSpPr txBox="1">
            <a:spLocks/>
          </p:cNvSpPr>
          <p:nvPr/>
        </p:nvSpPr>
        <p:spPr>
          <a:xfrm>
            <a:off x="947354" y="2417728"/>
            <a:ext cx="10297291" cy="351281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3600" dirty="0">
                <a:solidFill>
                  <a:schemeClr val="tx1"/>
                </a:solidFill>
              </a:rPr>
              <a:t>Un Sistema de Gestión de la Calidad es una forma de trabajar, mediante la cual una organización asegura la satisfacción de las necesidades de sus clientes. Para lo cual planifica, mantiene y mejora continuamente el desempeño de sus procesos, bajo un esquema de eficiencia y eficacia que le permite lograr ventajas competitivas. </a:t>
            </a:r>
          </a:p>
          <a:p>
            <a:pPr algn="ctr"/>
            <a:r>
              <a:rPr lang="es-ES" sz="3600" b="1" dirty="0">
                <a:solidFill>
                  <a:srgbClr val="FF0000"/>
                </a:solidFill>
              </a:rPr>
              <a:t>Conjunto de procesos para asegurar la calidad y satisfacción del cliente</a:t>
            </a:r>
          </a:p>
          <a:p>
            <a:pPr algn="ctr"/>
            <a:endParaRPr lang="es-CO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0963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6766BF9-26C8-46B9-B3EC-31B8279EF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4E7C548-BD2C-4821-9699-1A0609066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890" y="1069417"/>
            <a:ext cx="4328719" cy="557611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A4F556D-675D-42D2-9F89-FA46C39E77C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140" t="35698" r="39736" b="48400"/>
          <a:stretch/>
        </p:blipFill>
        <p:spPr>
          <a:xfrm>
            <a:off x="796955" y="3429000"/>
            <a:ext cx="3447098" cy="1459685"/>
          </a:xfrm>
          <a:prstGeom prst="rect">
            <a:avLst/>
          </a:prstGeom>
        </p:spPr>
      </p:pic>
      <p:sp>
        <p:nvSpPr>
          <p:cNvPr id="7" name="Título 8">
            <a:extLst>
              <a:ext uri="{FF2B5EF4-FFF2-40B4-BE49-F238E27FC236}">
                <a16:creationId xmlns:a16="http://schemas.microsoft.com/office/drawing/2014/main" id="{89C22BE8-6EC1-41B7-BC1F-B39BB005B296}"/>
              </a:ext>
            </a:extLst>
          </p:cNvPr>
          <p:cNvSpPr txBox="1">
            <a:spLocks/>
          </p:cNvSpPr>
          <p:nvPr/>
        </p:nvSpPr>
        <p:spPr>
          <a:xfrm>
            <a:off x="9197131" y="282772"/>
            <a:ext cx="2994869" cy="11234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>
              <a:defRPr/>
            </a:pPr>
            <a:r>
              <a:rPr lang="es-ES_tradnl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CERTIFICADO ISO 9001:2015</a:t>
            </a:r>
          </a:p>
        </p:txBody>
      </p:sp>
    </p:spTree>
    <p:extLst>
      <p:ext uri="{BB962C8B-B14F-4D97-AF65-F5344CB8AC3E}">
        <p14:creationId xmlns:p14="http://schemas.microsoft.com/office/powerpoint/2010/main" val="972378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C59271-9A87-3879-FB6C-04AD501E9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s-ES" dirty="0"/>
            </a:b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FCEA60A-2916-F27E-C777-770FFBDC9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103"/>
            <a:ext cx="12191799" cy="6845226"/>
          </a:xfrm>
          <a:prstGeom prst="rect">
            <a:avLst/>
          </a:prstGeom>
        </p:spPr>
      </p:pic>
      <p:sp>
        <p:nvSpPr>
          <p:cNvPr id="7" name="Título 8">
            <a:extLst>
              <a:ext uri="{FF2B5EF4-FFF2-40B4-BE49-F238E27FC236}">
                <a16:creationId xmlns:a16="http://schemas.microsoft.com/office/drawing/2014/main" id="{79773FFE-C29F-42E4-85F8-6ED1D5E58C15}"/>
              </a:ext>
            </a:extLst>
          </p:cNvPr>
          <p:cNvSpPr txBox="1">
            <a:spLocks/>
          </p:cNvSpPr>
          <p:nvPr/>
        </p:nvSpPr>
        <p:spPr>
          <a:xfrm>
            <a:off x="9169354" y="576847"/>
            <a:ext cx="3022445" cy="85624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>
              <a:defRPr/>
            </a:pPr>
            <a:r>
              <a:rPr lang="es-ES_tradnl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MAPA DE PROCESOS</a:t>
            </a:r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E4E1F677-9784-48F4-840A-25AAF4115AB8}"/>
              </a:ext>
            </a:extLst>
          </p:cNvPr>
          <p:cNvGrpSpPr/>
          <p:nvPr/>
        </p:nvGrpSpPr>
        <p:grpSpPr>
          <a:xfrm>
            <a:off x="1711757" y="1494028"/>
            <a:ext cx="8506033" cy="5022624"/>
            <a:chOff x="971600" y="910497"/>
            <a:chExt cx="6643273" cy="4181533"/>
          </a:xfrm>
        </p:grpSpPr>
        <p:grpSp>
          <p:nvGrpSpPr>
            <p:cNvPr id="46" name="5 Grupo">
              <a:extLst>
                <a:ext uri="{FF2B5EF4-FFF2-40B4-BE49-F238E27FC236}">
                  <a16:creationId xmlns:a16="http://schemas.microsoft.com/office/drawing/2014/main" id="{7BF72473-40C7-4AAC-8908-A8962D1F16F5}"/>
                </a:ext>
              </a:extLst>
            </p:cNvPr>
            <p:cNvGrpSpPr/>
            <p:nvPr/>
          </p:nvGrpSpPr>
          <p:grpSpPr>
            <a:xfrm>
              <a:off x="971600" y="910497"/>
              <a:ext cx="6643273" cy="4181533"/>
              <a:chOff x="0" y="7578"/>
              <a:chExt cx="9072365" cy="6672287"/>
            </a:xfrm>
          </p:grpSpPr>
          <p:sp>
            <p:nvSpPr>
              <p:cNvPr id="48" name="2 Rectángulo">
                <a:extLst>
                  <a:ext uri="{FF2B5EF4-FFF2-40B4-BE49-F238E27FC236}">
                    <a16:creationId xmlns:a16="http://schemas.microsoft.com/office/drawing/2014/main" id="{842B7B41-769B-46A4-874F-CF254D63ACBC}"/>
                  </a:ext>
                </a:extLst>
              </p:cNvPr>
              <p:cNvSpPr/>
              <p:nvPr/>
            </p:nvSpPr>
            <p:spPr>
              <a:xfrm>
                <a:off x="4896544" y="2509704"/>
                <a:ext cx="1512168" cy="1639376"/>
              </a:xfrm>
              <a:prstGeom prst="rect">
                <a:avLst/>
              </a:prstGeom>
              <a:noFill/>
              <a:ln w="25400" cap="flat" cmpd="sng" algn="ctr">
                <a:solidFill>
                  <a:srgbClr val="F79646">
                    <a:lumMod val="7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9" name="Rectangle 26">
                <a:extLst>
                  <a:ext uri="{FF2B5EF4-FFF2-40B4-BE49-F238E27FC236}">
                    <a16:creationId xmlns:a16="http://schemas.microsoft.com/office/drawing/2014/main" id="{8826C883-F3E2-40E9-9FEE-8EDBE3AD6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7578"/>
                <a:ext cx="252277" cy="4419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" name="Text Box 19">
                <a:extLst>
                  <a:ext uri="{FF2B5EF4-FFF2-40B4-BE49-F238E27FC236}">
                    <a16:creationId xmlns:a16="http://schemas.microsoft.com/office/drawing/2014/main" id="{0DD0477A-9632-455E-8468-B41FC2E948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85780" y="2564173"/>
                <a:ext cx="1281137" cy="362400"/>
              </a:xfrm>
              <a:prstGeom prst="rect">
                <a:avLst/>
              </a:prstGeom>
              <a:solidFill>
                <a:srgbClr val="F79646">
                  <a:lumMod val="60000"/>
                  <a:lumOff val="40000"/>
                </a:srgbClr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 w="114300" prst="artDeco"/>
                <a:bevelB w="152400" h="50800" prst="softRound"/>
              </a:sp3d>
            </p:spPr>
            <p:txBody>
              <a:bodyPr vert="horz" wrap="square" lIns="57607" tIns="28804" rIns="57607" bIns="28804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CO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itchFamily="34" charset="0"/>
                    <a:cs typeface="Arial" pitchFamily="34" charset="0"/>
                  </a:rPr>
                  <a:t>PLASTICOS</a:t>
                </a:r>
              </a:p>
            </p:txBody>
          </p:sp>
          <p:sp>
            <p:nvSpPr>
              <p:cNvPr id="51" name="Text Box 18">
                <a:extLst>
                  <a:ext uri="{FF2B5EF4-FFF2-40B4-BE49-F238E27FC236}">
                    <a16:creationId xmlns:a16="http://schemas.microsoft.com/office/drawing/2014/main" id="{9E7730D0-6753-492E-95B4-C86A949EB9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84022" y="3110439"/>
                <a:ext cx="1373535" cy="389299"/>
              </a:xfrm>
              <a:prstGeom prst="rect">
                <a:avLst/>
              </a:prstGeom>
              <a:solidFill>
                <a:srgbClr val="F79646">
                  <a:lumMod val="60000"/>
                  <a:lumOff val="40000"/>
                </a:srgbClr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 w="114300" prst="artDeco"/>
                <a:bevelB w="152400" h="50800" prst="softRound"/>
              </a:sp3d>
            </p:spPr>
            <p:txBody>
              <a:bodyPr vert="horz" wrap="square" lIns="57607" tIns="28804" rIns="57607" bIns="28804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itchFamily="34" charset="0"/>
                    <a:cs typeface="Arial" pitchFamily="34" charset="0"/>
                  </a:rPr>
                  <a:t>CONFECCION</a:t>
                </a:r>
                <a:endParaRPr kumimoji="0" lang="es-CO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2" name="Text Box 13">
                <a:extLst>
                  <a:ext uri="{FF2B5EF4-FFF2-40B4-BE49-F238E27FC236}">
                    <a16:creationId xmlns:a16="http://schemas.microsoft.com/office/drawing/2014/main" id="{E18307A6-C165-40B4-A74B-DAAAC08BA2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-2613564" y="3149603"/>
                <a:ext cx="5798912" cy="428284"/>
              </a:xfrm>
              <a:prstGeom prst="rect">
                <a:avLst/>
              </a:prstGeom>
              <a:solidFill>
                <a:srgbClr val="9BBB59">
                  <a:lumMod val="60000"/>
                  <a:lumOff val="40000"/>
                </a:srgbClr>
              </a:solidFill>
              <a:ln w="9525">
                <a:solidFill>
                  <a:srgbClr val="006600"/>
                </a:solidFill>
                <a:miter lim="800000"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square" lIns="57607" tIns="72000" rIns="57607" bIns="288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_tradnl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itchFamily="34" charset="0"/>
                  </a:rPr>
                  <a:t>NECESIDADES  DE  LOS  CLIENTES</a:t>
                </a:r>
              </a:p>
            </p:txBody>
          </p:sp>
          <p:sp>
            <p:nvSpPr>
              <p:cNvPr id="53" name="Text Box 12">
                <a:extLst>
                  <a:ext uri="{FF2B5EF4-FFF2-40B4-BE49-F238E27FC236}">
                    <a16:creationId xmlns:a16="http://schemas.microsoft.com/office/drawing/2014/main" id="{C1EDE7B6-9137-4CEC-8A21-62993972D2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400000">
                <a:off x="5857849" y="3108318"/>
                <a:ext cx="6000747" cy="428284"/>
              </a:xfrm>
              <a:prstGeom prst="rect">
                <a:avLst/>
              </a:prstGeom>
              <a:solidFill>
                <a:srgbClr val="9BBB59">
                  <a:lumMod val="60000"/>
                  <a:lumOff val="40000"/>
                </a:srgbClr>
              </a:solidFill>
              <a:ln w="9525">
                <a:solidFill>
                  <a:srgbClr val="006600"/>
                </a:solidFill>
                <a:miter lim="800000"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vert="horz" wrap="square" lIns="57607" tIns="72000" rIns="57607" bIns="288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itchFamily="34" charset="0"/>
                  </a:rPr>
                  <a:t>CLIENTES   SATISFECHOS</a:t>
                </a:r>
              </a:p>
            </p:txBody>
          </p:sp>
          <p:sp>
            <p:nvSpPr>
              <p:cNvPr id="54" name="29 Rectángulo">
                <a:extLst>
                  <a:ext uri="{FF2B5EF4-FFF2-40B4-BE49-F238E27FC236}">
                    <a16:creationId xmlns:a16="http://schemas.microsoft.com/office/drawing/2014/main" id="{029A9C27-20A6-4E21-84E0-64C706553DC9}"/>
                  </a:ext>
                </a:extLst>
              </p:cNvPr>
              <p:cNvSpPr/>
              <p:nvPr/>
            </p:nvSpPr>
            <p:spPr>
              <a:xfrm>
                <a:off x="828676" y="36155"/>
                <a:ext cx="7529538" cy="6643710"/>
              </a:xfrm>
              <a:prstGeom prst="rect">
                <a:avLst/>
              </a:prstGeom>
              <a:noFill/>
              <a:ln w="25400" cap="flat" cmpd="sng" algn="ctr">
                <a:solidFill>
                  <a:srgbClr val="4F81BD">
                    <a:shade val="50000"/>
                  </a:srgbClr>
                </a:solidFill>
                <a:prstDash val="sysDash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5" name="31 Flecha derecha">
                <a:extLst>
                  <a:ext uri="{FF2B5EF4-FFF2-40B4-BE49-F238E27FC236}">
                    <a16:creationId xmlns:a16="http://schemas.microsoft.com/office/drawing/2014/main" id="{25BE34AC-28B1-4F81-A679-C302321D6E00}"/>
                  </a:ext>
                </a:extLst>
              </p:cNvPr>
              <p:cNvSpPr/>
              <p:nvPr/>
            </p:nvSpPr>
            <p:spPr>
              <a:xfrm>
                <a:off x="500034" y="3322279"/>
                <a:ext cx="357190" cy="357190"/>
              </a:xfrm>
              <a:prstGeom prst="rightArrow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4F81BD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6" name="36 CuadroTexto">
                <a:extLst>
                  <a:ext uri="{FF2B5EF4-FFF2-40B4-BE49-F238E27FC236}">
                    <a16:creationId xmlns:a16="http://schemas.microsoft.com/office/drawing/2014/main" id="{6293C9EE-E055-40E8-8BF3-749606B6F254}"/>
                  </a:ext>
                </a:extLst>
              </p:cNvPr>
              <p:cNvSpPr txBox="1"/>
              <p:nvPr/>
            </p:nvSpPr>
            <p:spPr>
              <a:xfrm>
                <a:off x="928662" y="179007"/>
                <a:ext cx="3000396" cy="417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_tradnl" sz="11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radley Hand ITC" pitchFamily="66" charset="0"/>
                  </a:rPr>
                  <a:t>AREA ADMINISTATIVA</a:t>
                </a:r>
              </a:p>
            </p:txBody>
          </p:sp>
          <p:sp>
            <p:nvSpPr>
              <p:cNvPr id="57" name="37 CuadroTexto">
                <a:extLst>
                  <a:ext uri="{FF2B5EF4-FFF2-40B4-BE49-F238E27FC236}">
                    <a16:creationId xmlns:a16="http://schemas.microsoft.com/office/drawing/2014/main" id="{8001676D-EB03-4484-9D4A-E04853A0CDCB}"/>
                  </a:ext>
                </a:extLst>
              </p:cNvPr>
              <p:cNvSpPr txBox="1"/>
              <p:nvPr/>
            </p:nvSpPr>
            <p:spPr>
              <a:xfrm>
                <a:off x="900114" y="1938556"/>
                <a:ext cx="3000396" cy="417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_tradnl" sz="11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radley Hand ITC" pitchFamily="66" charset="0"/>
                  </a:rPr>
                  <a:t>AREA  MISIONAL</a:t>
                </a:r>
              </a:p>
            </p:txBody>
          </p:sp>
          <p:sp>
            <p:nvSpPr>
              <p:cNvPr id="58" name="38 Rectángulo">
                <a:extLst>
                  <a:ext uri="{FF2B5EF4-FFF2-40B4-BE49-F238E27FC236}">
                    <a16:creationId xmlns:a16="http://schemas.microsoft.com/office/drawing/2014/main" id="{C4DAF9BA-C113-4934-9DC7-2D8F23BFB2E4}"/>
                  </a:ext>
                </a:extLst>
              </p:cNvPr>
              <p:cNvSpPr/>
              <p:nvPr/>
            </p:nvSpPr>
            <p:spPr>
              <a:xfrm>
                <a:off x="828676" y="4751039"/>
                <a:ext cx="7529538" cy="1928826"/>
              </a:xfrm>
              <a:prstGeom prst="rect">
                <a:avLst/>
              </a:prstGeom>
              <a:noFill/>
              <a:ln w="25400" cap="flat" cmpd="sng" algn="ctr">
                <a:solidFill>
                  <a:srgbClr val="4F81BD">
                    <a:shade val="50000"/>
                  </a:srgbClr>
                </a:solidFill>
                <a:prstDash val="sysDash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9" name="39 CuadroTexto">
                <a:extLst>
                  <a:ext uri="{FF2B5EF4-FFF2-40B4-BE49-F238E27FC236}">
                    <a16:creationId xmlns:a16="http://schemas.microsoft.com/office/drawing/2014/main" id="{9D483DD8-43C3-4649-A1FF-038F3715CF67}"/>
                  </a:ext>
                </a:extLst>
              </p:cNvPr>
              <p:cNvSpPr txBox="1"/>
              <p:nvPr/>
            </p:nvSpPr>
            <p:spPr>
              <a:xfrm>
                <a:off x="887929" y="4735862"/>
                <a:ext cx="1814498" cy="417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_tradnl" sz="11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radley Hand ITC" pitchFamily="66" charset="0"/>
                  </a:rPr>
                  <a:t>AREA DE APOYO</a:t>
                </a:r>
              </a:p>
            </p:txBody>
          </p:sp>
          <p:sp>
            <p:nvSpPr>
              <p:cNvPr id="60" name="40 Flecha derecha">
                <a:extLst>
                  <a:ext uri="{FF2B5EF4-FFF2-40B4-BE49-F238E27FC236}">
                    <a16:creationId xmlns:a16="http://schemas.microsoft.com/office/drawing/2014/main" id="{E93F7455-B8F7-468F-85C7-18355576F4BF}"/>
                  </a:ext>
                </a:extLst>
              </p:cNvPr>
              <p:cNvSpPr/>
              <p:nvPr/>
            </p:nvSpPr>
            <p:spPr>
              <a:xfrm>
                <a:off x="8286776" y="3322279"/>
                <a:ext cx="357190" cy="357190"/>
              </a:xfrm>
              <a:prstGeom prst="rightArrow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rgbClr val="4F81BD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_tradnl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61" name="59 Conector recto">
                <a:extLst>
                  <a:ext uri="{FF2B5EF4-FFF2-40B4-BE49-F238E27FC236}">
                    <a16:creationId xmlns:a16="http://schemas.microsoft.com/office/drawing/2014/main" id="{FDE97BAE-0F65-4F52-9712-F1E7B28FEFEC}"/>
                  </a:ext>
                </a:extLst>
              </p:cNvPr>
              <p:cNvCxnSpPr/>
              <p:nvPr/>
            </p:nvCxnSpPr>
            <p:spPr>
              <a:xfrm>
                <a:off x="857224" y="1785926"/>
                <a:ext cx="7500990" cy="1588"/>
              </a:xfrm>
              <a:prstGeom prst="line">
                <a:avLst/>
              </a:prstGeom>
              <a:noFill/>
              <a:ln w="28575" cap="flat" cmpd="sng" algn="ctr">
                <a:solidFill>
                  <a:srgbClr val="4F81BD">
                    <a:shade val="95000"/>
                    <a:satMod val="105000"/>
                  </a:srgbClr>
                </a:solidFill>
                <a:prstDash val="dash"/>
              </a:ln>
              <a:effectLst/>
            </p:spPr>
          </p:cxnSp>
          <p:sp>
            <p:nvSpPr>
              <p:cNvPr id="62" name="73 Llamada de flecha hacia abajo">
                <a:extLst>
                  <a:ext uri="{FF2B5EF4-FFF2-40B4-BE49-F238E27FC236}">
                    <a16:creationId xmlns:a16="http://schemas.microsoft.com/office/drawing/2014/main" id="{9169A96E-DE8F-4358-BEAB-F1529B4DAF3C}"/>
                  </a:ext>
                </a:extLst>
              </p:cNvPr>
              <p:cNvSpPr/>
              <p:nvPr/>
            </p:nvSpPr>
            <p:spPr>
              <a:xfrm>
                <a:off x="3737504" y="692919"/>
                <a:ext cx="1917093" cy="592024"/>
              </a:xfrm>
              <a:prstGeom prst="downArrowCallout">
                <a:avLst/>
              </a:prstGeom>
              <a:solidFill>
                <a:srgbClr val="F79646">
                  <a:lumMod val="75000"/>
                </a:srgbClr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 w="114300" prst="artDeco"/>
                <a:bevelB w="152400" h="50800" prst="softRound"/>
              </a:sp3d>
            </p:spPr>
            <p:txBody>
              <a:bodyPr vert="horz" wrap="square" lIns="57607" tIns="28804" rIns="57607" bIns="28804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CO" sz="105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pitchFamily="34" charset="0"/>
                    <a:ea typeface="Calibri" pitchFamily="34" charset="0"/>
                    <a:cs typeface="Arial" pitchFamily="34" charset="0"/>
                  </a:rPr>
                  <a:t>GERENCIAL</a:t>
                </a:r>
              </a:p>
            </p:txBody>
          </p:sp>
          <p:sp>
            <p:nvSpPr>
              <p:cNvPr id="63" name="75 Llamada de flecha hacia arriba">
                <a:extLst>
                  <a:ext uri="{FF2B5EF4-FFF2-40B4-BE49-F238E27FC236}">
                    <a16:creationId xmlns:a16="http://schemas.microsoft.com/office/drawing/2014/main" id="{2C080E64-DE4A-4AB2-9989-44586199209D}"/>
                  </a:ext>
                </a:extLst>
              </p:cNvPr>
              <p:cNvSpPr/>
              <p:nvPr/>
            </p:nvSpPr>
            <p:spPr>
              <a:xfrm>
                <a:off x="2616645" y="4905138"/>
                <a:ext cx="2496905" cy="774305"/>
              </a:xfrm>
              <a:prstGeom prst="upArrowCallout">
                <a:avLst/>
              </a:prstGeom>
              <a:solidFill>
                <a:srgbClr val="99FF66"/>
              </a:solidFill>
              <a:ln w="9525">
                <a:solidFill>
                  <a:srgbClr val="006600"/>
                </a:solidFill>
                <a:miter lim="800000"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txBody>
              <a:bodyPr vert="horz" wrap="square" lIns="57607" tIns="28804" rIns="57607" bIns="288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CO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itchFamily="34" charset="0"/>
                    <a:ea typeface="Calibri" pitchFamily="34" charset="0"/>
                    <a:cs typeface="Arial" pitchFamily="34" charset="0"/>
                  </a:rPr>
                  <a:t>GESTION HUMANA Y SALUD OCUPACIONAL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itchFamily="34" charset="0"/>
                    <a:ea typeface="Calibri" pitchFamily="34" charset="0"/>
                    <a:cs typeface="Arial" pitchFamily="34" charset="0"/>
                  </a:rPr>
                  <a:t>                                                                                                              </a:t>
                </a:r>
              </a:p>
            </p:txBody>
          </p:sp>
          <p:sp>
            <p:nvSpPr>
              <p:cNvPr id="64" name="77 Llamada de flecha hacia arriba">
                <a:extLst>
                  <a:ext uri="{FF2B5EF4-FFF2-40B4-BE49-F238E27FC236}">
                    <a16:creationId xmlns:a16="http://schemas.microsoft.com/office/drawing/2014/main" id="{7B783DEB-3447-4CE9-B9C3-31983C06C57A}"/>
                  </a:ext>
                </a:extLst>
              </p:cNvPr>
              <p:cNvSpPr/>
              <p:nvPr/>
            </p:nvSpPr>
            <p:spPr>
              <a:xfrm>
                <a:off x="1614494" y="5888195"/>
                <a:ext cx="1571636" cy="500066"/>
              </a:xfrm>
              <a:prstGeom prst="upArrowCallout">
                <a:avLst/>
              </a:prstGeom>
              <a:solidFill>
                <a:srgbClr val="99FF66"/>
              </a:solidFill>
              <a:ln w="9525">
                <a:solidFill>
                  <a:srgbClr val="006600"/>
                </a:solidFill>
                <a:miter lim="800000"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txBody>
              <a:bodyPr vert="horz" wrap="square" lIns="57607" tIns="28804" rIns="57607" bIns="288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CO" sz="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itchFamily="34" charset="0"/>
                    <a:ea typeface="Calibri" pitchFamily="34" charset="0"/>
                    <a:cs typeface="Arial" pitchFamily="34" charset="0"/>
                  </a:rPr>
                  <a:t>FINANCIERO</a:t>
                </a:r>
              </a:p>
            </p:txBody>
          </p:sp>
          <p:sp>
            <p:nvSpPr>
              <p:cNvPr id="65" name="80 Llamada de flecha hacia arriba">
                <a:extLst>
                  <a:ext uri="{FF2B5EF4-FFF2-40B4-BE49-F238E27FC236}">
                    <a16:creationId xmlns:a16="http://schemas.microsoft.com/office/drawing/2014/main" id="{98B459DB-AD10-4310-B620-F89755112AC2}"/>
                  </a:ext>
                </a:extLst>
              </p:cNvPr>
              <p:cNvSpPr/>
              <p:nvPr/>
            </p:nvSpPr>
            <p:spPr>
              <a:xfrm>
                <a:off x="4916875" y="5834204"/>
                <a:ext cx="1428760" cy="625063"/>
              </a:xfrm>
              <a:prstGeom prst="upArrowCallout">
                <a:avLst>
                  <a:gd name="adj1" fmla="val 30541"/>
                  <a:gd name="adj2" fmla="val 25000"/>
                  <a:gd name="adj3" fmla="val 25000"/>
                  <a:gd name="adj4" fmla="val 56665"/>
                </a:avLst>
              </a:prstGeom>
              <a:solidFill>
                <a:srgbClr val="99FF66"/>
              </a:solidFill>
              <a:ln w="9525">
                <a:solidFill>
                  <a:srgbClr val="006600"/>
                </a:solidFill>
                <a:miter lim="800000"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txBody>
              <a:bodyPr vert="horz" wrap="square" lIns="57607" tIns="28804" rIns="57607" bIns="28804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CO" sz="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itchFamily="34" charset="0"/>
                    <a:ea typeface="Calibri" pitchFamily="34" charset="0"/>
                    <a:cs typeface="Arial" pitchFamily="34" charset="0"/>
                  </a:rPr>
                  <a:t>PROYECTOS</a:t>
                </a:r>
              </a:p>
            </p:txBody>
          </p:sp>
          <p:sp>
            <p:nvSpPr>
              <p:cNvPr id="66" name="81 Llamada de flecha a la derecha">
                <a:extLst>
                  <a:ext uri="{FF2B5EF4-FFF2-40B4-BE49-F238E27FC236}">
                    <a16:creationId xmlns:a16="http://schemas.microsoft.com/office/drawing/2014/main" id="{33883358-07E9-444E-AC43-A4AB5DC4A4B8}"/>
                  </a:ext>
                </a:extLst>
              </p:cNvPr>
              <p:cNvSpPr/>
              <p:nvPr/>
            </p:nvSpPr>
            <p:spPr>
              <a:xfrm>
                <a:off x="1094940" y="2365687"/>
                <a:ext cx="2248535" cy="569794"/>
              </a:xfrm>
              <a:prstGeom prst="rightArrowCallout">
                <a:avLst>
                  <a:gd name="adj1" fmla="val 25000"/>
                  <a:gd name="adj2" fmla="val 25000"/>
                  <a:gd name="adj3" fmla="val 72351"/>
                  <a:gd name="adj4" fmla="val 64977"/>
                </a:avLst>
              </a:prstGeom>
              <a:solidFill>
                <a:srgbClr val="F79646">
                  <a:lumMod val="60000"/>
                  <a:lumOff val="40000"/>
                </a:srgbClr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 w="114300" prst="artDeco"/>
                <a:bevelB w="152400" h="50800" prst="softRound"/>
              </a:sp3d>
            </p:spPr>
            <p:txBody>
              <a:bodyPr vert="horz" wrap="square" lIns="57607" tIns="28804" rIns="57607" bIns="28804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CO" sz="9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itchFamily="34" charset="0"/>
                    <a:cs typeface="Arial" pitchFamily="34" charset="0"/>
                  </a:rPr>
                  <a:t>DISEÑO Y DESARROLLO</a:t>
                </a:r>
              </a:p>
            </p:txBody>
          </p:sp>
          <p:sp>
            <p:nvSpPr>
              <p:cNvPr id="67" name="82 Llamada de flecha a la derecha">
                <a:extLst>
                  <a:ext uri="{FF2B5EF4-FFF2-40B4-BE49-F238E27FC236}">
                    <a16:creationId xmlns:a16="http://schemas.microsoft.com/office/drawing/2014/main" id="{ECC19849-58C0-4D8F-9F57-6458D58A08D4}"/>
                  </a:ext>
                </a:extLst>
              </p:cNvPr>
              <p:cNvSpPr/>
              <p:nvPr/>
            </p:nvSpPr>
            <p:spPr>
              <a:xfrm>
                <a:off x="1152128" y="3571779"/>
                <a:ext cx="1844278" cy="577301"/>
              </a:xfrm>
              <a:prstGeom prst="rightArrowCallout">
                <a:avLst>
                  <a:gd name="adj1" fmla="val 17947"/>
                  <a:gd name="adj2" fmla="val 25000"/>
                  <a:gd name="adj3" fmla="val 72351"/>
                  <a:gd name="adj4" fmla="val 64977"/>
                </a:avLst>
              </a:prstGeom>
              <a:solidFill>
                <a:srgbClr val="F79646">
                  <a:lumMod val="60000"/>
                  <a:lumOff val="40000"/>
                </a:srgbClr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 w="114300" prst="artDeco"/>
                <a:bevelB w="152400" h="50800" prst="softRound"/>
              </a:sp3d>
            </p:spPr>
            <p:txBody>
              <a:bodyPr vert="horz" wrap="square" lIns="57607" tIns="28804" rIns="57607" bIns="28804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CO" sz="9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itchFamily="34" charset="0"/>
                    <a:cs typeface="Arial" pitchFamily="34" charset="0"/>
                  </a:rPr>
                  <a:t>MERCADEO Y VENTAS</a:t>
                </a:r>
              </a:p>
            </p:txBody>
          </p:sp>
          <p:sp>
            <p:nvSpPr>
              <p:cNvPr id="68" name="Text Box 18">
                <a:extLst>
                  <a:ext uri="{FF2B5EF4-FFF2-40B4-BE49-F238E27FC236}">
                    <a16:creationId xmlns:a16="http://schemas.microsoft.com/office/drawing/2014/main" id="{251EDDBD-D923-4E70-AB63-CE3E4E9FFD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00629" y="2971464"/>
                <a:ext cx="1714512" cy="360040"/>
              </a:xfrm>
              <a:prstGeom prst="rect">
                <a:avLst/>
              </a:prstGeom>
              <a:solidFill>
                <a:srgbClr val="F79646">
                  <a:lumMod val="60000"/>
                  <a:lumOff val="40000"/>
                </a:srgbClr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 w="114300" prst="artDeco"/>
                <a:bevelB w="152400" h="50800" prst="softRound"/>
              </a:sp3d>
            </p:spPr>
            <p:txBody>
              <a:bodyPr vert="horz" wrap="square" lIns="57607" tIns="28804" rIns="57607" bIns="28804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CO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itchFamily="34" charset="0"/>
                    <a:cs typeface="Arial" pitchFamily="34" charset="0"/>
                  </a:rPr>
                  <a:t>LABORATORIO</a:t>
                </a:r>
              </a:p>
            </p:txBody>
          </p:sp>
          <p:sp>
            <p:nvSpPr>
              <p:cNvPr id="69" name="Text Box 19">
                <a:extLst>
                  <a:ext uri="{FF2B5EF4-FFF2-40B4-BE49-F238E27FC236}">
                    <a16:creationId xmlns:a16="http://schemas.microsoft.com/office/drawing/2014/main" id="{9DDB8241-55B3-4497-A8EE-0B12FC7C11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711" y="3699244"/>
                <a:ext cx="1274206" cy="322628"/>
              </a:xfrm>
              <a:prstGeom prst="rect">
                <a:avLst/>
              </a:prstGeom>
              <a:solidFill>
                <a:srgbClr val="F79646">
                  <a:lumMod val="60000"/>
                  <a:lumOff val="40000"/>
                </a:srgbClr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  <a:scene3d>
                <a:camera prst="orthographicFront"/>
                <a:lightRig rig="threePt" dir="t"/>
              </a:scene3d>
              <a:sp3d>
                <a:bevelT w="114300" prst="artDeco"/>
                <a:bevelB w="152400" h="50800" prst="softRound"/>
              </a:sp3d>
            </p:spPr>
            <p:txBody>
              <a:bodyPr vert="horz" wrap="square" lIns="57607" tIns="28804" rIns="57607" bIns="28804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CO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itchFamily="34" charset="0"/>
                    <a:cs typeface="Arial" pitchFamily="34" charset="0"/>
                  </a:rPr>
                  <a:t>TEJIDOS</a:t>
                </a:r>
              </a:p>
            </p:txBody>
          </p:sp>
          <p:sp>
            <p:nvSpPr>
              <p:cNvPr id="70" name="32 Rectángulo">
                <a:extLst>
                  <a:ext uri="{FF2B5EF4-FFF2-40B4-BE49-F238E27FC236}">
                    <a16:creationId xmlns:a16="http://schemas.microsoft.com/office/drawing/2014/main" id="{52CDC712-0B00-42F4-AD22-B06A5DAC4FAB}"/>
                  </a:ext>
                </a:extLst>
              </p:cNvPr>
              <p:cNvSpPr/>
              <p:nvPr/>
            </p:nvSpPr>
            <p:spPr>
              <a:xfrm>
                <a:off x="4896544" y="2077656"/>
                <a:ext cx="1512168" cy="434203"/>
              </a:xfrm>
              <a:prstGeom prst="rect">
                <a:avLst/>
              </a:prstGeom>
              <a:solidFill>
                <a:srgbClr val="F79646">
                  <a:lumMod val="40000"/>
                  <a:lumOff val="60000"/>
                </a:srgbClr>
              </a:solidFill>
              <a:ln w="25400" cap="flat" cmpd="sng" algn="ctr">
                <a:solidFill>
                  <a:srgbClr val="F79646">
                    <a:lumMod val="7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1" name="4 CuadroTexto">
                <a:extLst>
                  <a:ext uri="{FF2B5EF4-FFF2-40B4-BE49-F238E27FC236}">
                    <a16:creationId xmlns:a16="http://schemas.microsoft.com/office/drawing/2014/main" id="{FA274C83-502B-4766-80F2-83F41F373F18}"/>
                  </a:ext>
                </a:extLst>
              </p:cNvPr>
              <p:cNvSpPr txBox="1"/>
              <p:nvPr/>
            </p:nvSpPr>
            <p:spPr>
              <a:xfrm>
                <a:off x="4896545" y="2112310"/>
                <a:ext cx="1510942" cy="417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MANUFACTURA</a:t>
                </a:r>
                <a:endParaRPr kumimoji="0" lang="es-CO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47" name="27 Llamada de flecha hacia arriba">
              <a:extLst>
                <a:ext uri="{FF2B5EF4-FFF2-40B4-BE49-F238E27FC236}">
                  <a16:creationId xmlns:a16="http://schemas.microsoft.com/office/drawing/2014/main" id="{81F19E79-A2EF-4645-9CA8-7A877768A5DD}"/>
                </a:ext>
              </a:extLst>
            </p:cNvPr>
            <p:cNvSpPr/>
            <p:nvPr/>
          </p:nvSpPr>
          <p:spPr>
            <a:xfrm>
              <a:off x="5292080" y="3909034"/>
              <a:ext cx="1583734" cy="585551"/>
            </a:xfrm>
            <a:prstGeom prst="upArrowCallout">
              <a:avLst>
                <a:gd name="adj1" fmla="val 30541"/>
                <a:gd name="adj2" fmla="val 25000"/>
                <a:gd name="adj3" fmla="val 25000"/>
                <a:gd name="adj4" fmla="val 56665"/>
              </a:avLst>
            </a:prstGeom>
            <a:solidFill>
              <a:srgbClr val="99FF66"/>
            </a:solidFill>
            <a:ln w="9525">
              <a:solidFill>
                <a:srgbClr val="006600"/>
              </a:solidFill>
              <a:miter lim="800000"/>
              <a:headEnd/>
              <a:tailEnd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57607" tIns="28804" rIns="57607" bIns="28804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Calibri" pitchFamily="34" charset="0"/>
                  <a:cs typeface="Arial" pitchFamily="34" charset="0"/>
                </a:rPr>
                <a:t>S</a:t>
              </a:r>
              <a:r>
                <a:rPr kumimoji="0" lang="es-CO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Calibri" pitchFamily="34" charset="0"/>
                  <a:cs typeface="Arial" pitchFamily="34" charset="0"/>
                </a:rPr>
                <a:t>ISTEMA DE GESTIOS DE CALIDAD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1468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298F99A-C6B1-4BD9-A567-3BFBCB9EC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B6F2DE-0114-46C8-A1A7-82C2BED6A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984" y="1538242"/>
            <a:ext cx="9222376" cy="4897392"/>
          </a:xfrm>
        </p:spPr>
        <p:txBody>
          <a:bodyPr/>
          <a:lstStyle/>
          <a:p>
            <a:pPr marL="0" indent="0" algn="ctr">
              <a:buNone/>
            </a:pPr>
            <a:r>
              <a:rPr lang="es-ES" b="1" dirty="0"/>
              <a:t>ROL DEL COLABORADOR</a:t>
            </a:r>
          </a:p>
          <a:p>
            <a:r>
              <a:rPr lang="es-ES" dirty="0"/>
              <a:t>Cumplir procedimientos</a:t>
            </a:r>
          </a:p>
          <a:p>
            <a:r>
              <a:rPr lang="es-ES" dirty="0"/>
              <a:t>Reportar fallas</a:t>
            </a:r>
          </a:p>
          <a:p>
            <a:r>
              <a:rPr lang="es-ES" dirty="0"/>
              <a:t>Aportar mejoras</a:t>
            </a:r>
          </a:p>
          <a:p>
            <a:pPr marL="0" indent="0">
              <a:buNone/>
            </a:pPr>
            <a:endParaRPr lang="es-ES" dirty="0"/>
          </a:p>
          <a:p>
            <a:pPr marL="0" indent="0" algn="ctr">
              <a:buNone/>
            </a:pPr>
            <a:r>
              <a:rPr lang="es-ES" b="1" dirty="0"/>
              <a:t>RIESGOS Y OPORTUNIDADES</a:t>
            </a:r>
          </a:p>
          <a:p>
            <a:r>
              <a:rPr lang="es-CO" dirty="0"/>
              <a:t>Prevenir errores</a:t>
            </a:r>
          </a:p>
          <a:p>
            <a:r>
              <a:rPr lang="es-CO" dirty="0"/>
              <a:t>Mejorar desempeño</a:t>
            </a:r>
          </a:p>
          <a:p>
            <a:endParaRPr lang="es-ES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63640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A079537A-19BA-4AEF-BB8C-A725497476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F1C5FA1-5D70-36ED-3143-08A278E0E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s-ES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8B8434-6DC3-890E-816C-9EFA8DE366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  <a:p>
            <a:endParaRPr lang="es-CO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A39CF34-DF65-4887-838C-494F6DCB9083}"/>
              </a:ext>
            </a:extLst>
          </p:cNvPr>
          <p:cNvSpPr/>
          <p:nvPr/>
        </p:nvSpPr>
        <p:spPr>
          <a:xfrm>
            <a:off x="1053736" y="2268537"/>
            <a:ext cx="9187543" cy="38908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s-CO" sz="2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Comunicación interna</a:t>
            </a:r>
            <a:endParaRPr lang="es-CO" sz="2800" b="1" dirty="0">
              <a:solidFill>
                <a:srgbClr val="0F4761"/>
              </a:solidFill>
              <a:latin typeface="Aptos"/>
              <a:ea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s-CO" b="1" dirty="0">
                <a:solidFill>
                  <a:srgbClr val="000000"/>
                </a:solidFill>
                <a:latin typeface="Arial" panose="020B0604020202020204" pitchFamily="34" charset="0"/>
                <a:ea typeface="Aptos"/>
                <a:cs typeface="Times New Roman" panose="02020603050405020304" pitchFamily="18" charset="0"/>
              </a:rPr>
              <a:t>Canales de comunicación interna:</a:t>
            </a:r>
            <a:r>
              <a:rPr lang="es-CO" dirty="0">
                <a:solidFill>
                  <a:srgbClr val="000000"/>
                </a:solidFill>
                <a:latin typeface="Arial" panose="020B0604020202020204" pitchFamily="34" charset="0"/>
                <a:ea typeface="Aptos"/>
                <a:cs typeface="Times New Roman" panose="02020603050405020304" pitchFamily="18" charset="0"/>
              </a:rPr>
              <a:t> - Reuniones presenciales o virtuales - Correos electrónicos corporativos - Carteleras informativas - Circulares internas - Capacitaciones y charlas</a:t>
            </a:r>
            <a:endParaRPr lang="es-CO" dirty="0">
              <a:latin typeface="Aptos"/>
              <a:ea typeface="Aptos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s-CO" b="1" dirty="0">
                <a:solidFill>
                  <a:srgbClr val="000000"/>
                </a:solidFill>
                <a:latin typeface="Arial" panose="020B0604020202020204" pitchFamily="34" charset="0"/>
                <a:ea typeface="Aptos"/>
                <a:cs typeface="Times New Roman" panose="02020603050405020304" pitchFamily="18" charset="0"/>
              </a:rPr>
              <a:t>Tipos de información interna:</a:t>
            </a:r>
            <a:r>
              <a:rPr lang="es-CO" dirty="0">
                <a:solidFill>
                  <a:srgbClr val="000000"/>
                </a:solidFill>
                <a:latin typeface="Arial" panose="020B0604020202020204" pitchFamily="34" charset="0"/>
                <a:ea typeface="Aptos"/>
                <a:cs typeface="Times New Roman" panose="02020603050405020304" pitchFamily="18" charset="0"/>
              </a:rPr>
              <a:t> - Políticas y objetivos - Cambios organizacionales - Procedimientos e instructivos - Resultados del SGC - Indicadores y planes de mejora.</a:t>
            </a:r>
          </a:p>
          <a:p>
            <a:r>
              <a:rPr lang="es-CO" sz="2000" b="1" dirty="0"/>
              <a:t>Control de la comunicación</a:t>
            </a:r>
          </a:p>
          <a:p>
            <a:r>
              <a:rPr lang="es-CO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Toda comunicación relevante debe: - Ser clara y comprensible - Estar alineada con la política de calidad - Ser registrada cuando aplique - Mantener la confidencialidad de la información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endParaRPr lang="es-CO" dirty="0">
              <a:latin typeface="Aptos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3784F5A0-29E0-43A0-BE9B-1891C7874170}"/>
              </a:ext>
            </a:extLst>
          </p:cNvPr>
          <p:cNvSpPr txBox="1">
            <a:spLocks/>
          </p:cNvSpPr>
          <p:nvPr/>
        </p:nvSpPr>
        <p:spPr>
          <a:xfrm>
            <a:off x="4283845" y="541386"/>
            <a:ext cx="3675789" cy="8562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>
              <a:defRPr/>
            </a:pPr>
            <a:r>
              <a:rPr lang="es-ES_tradnl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COMUNICACIÓN</a:t>
            </a:r>
          </a:p>
        </p:txBody>
      </p:sp>
    </p:spTree>
    <p:extLst>
      <p:ext uri="{BB962C8B-B14F-4D97-AF65-F5344CB8AC3E}">
        <p14:creationId xmlns:p14="http://schemas.microsoft.com/office/powerpoint/2010/main" val="19973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A203D-9CCD-6119-B66E-CD526BA1A7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s-ES" dirty="0"/>
            </a:b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B620CA-7B03-704F-67D0-D889E89FB9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  <a:p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CACF232-BAC9-CD88-0CDD-BB776348B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ítulo 8">
            <a:extLst>
              <a:ext uri="{FF2B5EF4-FFF2-40B4-BE49-F238E27FC236}">
                <a16:creationId xmlns:a16="http://schemas.microsoft.com/office/drawing/2014/main" id="{ED4A120A-74D1-470A-9FAB-93DE63153381}"/>
              </a:ext>
            </a:extLst>
          </p:cNvPr>
          <p:cNvSpPr txBox="1">
            <a:spLocks/>
          </p:cNvSpPr>
          <p:nvPr/>
        </p:nvSpPr>
        <p:spPr>
          <a:xfrm>
            <a:off x="7474591" y="878390"/>
            <a:ext cx="2994869" cy="11234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>
              <a:defRPr/>
            </a:pPr>
            <a:r>
              <a:rPr lang="es-ES_tradnl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POLITICA DE CALIDAD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5177CF1-0C79-4ABD-8914-17AA745D6DE7}"/>
              </a:ext>
            </a:extLst>
          </p:cNvPr>
          <p:cNvSpPr/>
          <p:nvPr/>
        </p:nvSpPr>
        <p:spPr>
          <a:xfrm>
            <a:off x="1770077" y="2576946"/>
            <a:ext cx="869938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O" sz="2400" dirty="0"/>
              <a:t>En E.P.I. estamos  comprometidos con el mejoramiento continuo, innovando y fabricando equipos de protección personal con excelente calidad, garantizando la entrega oportuna, brindando  capacitación a los colaboradores y cumpliendo  la normatividad vigente para productos de trabajo en alturas, para satisfacer  así las necesidades y expectativas de nuestros clientes, logrando el reconocimiento de la organización en el mercado y la rentabilidad de los accionistas.</a:t>
            </a:r>
          </a:p>
        </p:txBody>
      </p:sp>
    </p:spTree>
    <p:extLst>
      <p:ext uri="{BB962C8B-B14F-4D97-AF65-F5344CB8AC3E}">
        <p14:creationId xmlns:p14="http://schemas.microsoft.com/office/powerpoint/2010/main" val="3170079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8D6BA5-9DBE-4AFE-9FD5-DB5B30ADA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E7292F-4802-454B-875F-1A9E8FB1D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Pentágono regular 3">
            <a:extLst>
              <a:ext uri="{FF2B5EF4-FFF2-40B4-BE49-F238E27FC236}">
                <a16:creationId xmlns:a16="http://schemas.microsoft.com/office/drawing/2014/main" id="{25515BD7-88F5-46F5-A8D0-F563B71A68CE}"/>
              </a:ext>
            </a:extLst>
          </p:cNvPr>
          <p:cNvSpPr/>
          <p:nvPr/>
        </p:nvSpPr>
        <p:spPr>
          <a:xfrm>
            <a:off x="1634879" y="2417023"/>
            <a:ext cx="3197149" cy="2326255"/>
          </a:xfrm>
          <a:prstGeom prst="pentagon">
            <a:avLst/>
          </a:prstGeom>
          <a:solidFill>
            <a:srgbClr val="FF3399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s-CO" dirty="0">
                <a:solidFill>
                  <a:schemeClr val="bg1"/>
                </a:solidFill>
              </a:rPr>
              <a:t>Lograr un alto nivel de satisfacción de las necesidades de los clientes de la compañía. </a:t>
            </a:r>
          </a:p>
        </p:txBody>
      </p:sp>
      <p:sp>
        <p:nvSpPr>
          <p:cNvPr id="12" name="Pentágono regular 4">
            <a:extLst>
              <a:ext uri="{FF2B5EF4-FFF2-40B4-BE49-F238E27FC236}">
                <a16:creationId xmlns:a16="http://schemas.microsoft.com/office/drawing/2014/main" id="{EA88FE58-B49C-40AA-967D-0725CA644A04}"/>
              </a:ext>
            </a:extLst>
          </p:cNvPr>
          <p:cNvSpPr/>
          <p:nvPr/>
        </p:nvSpPr>
        <p:spPr>
          <a:xfrm>
            <a:off x="6772657" y="2529831"/>
            <a:ext cx="3179148" cy="2100640"/>
          </a:xfrm>
          <a:prstGeom prst="pentagon">
            <a:avLst/>
          </a:prstGeom>
          <a:solidFill>
            <a:srgbClr val="00B05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Mantener la certificación de los productos para trabajo en alturas</a:t>
            </a:r>
          </a:p>
        </p:txBody>
      </p:sp>
      <p:sp>
        <p:nvSpPr>
          <p:cNvPr id="13" name="Pentágono regular 5">
            <a:extLst>
              <a:ext uri="{FF2B5EF4-FFF2-40B4-BE49-F238E27FC236}">
                <a16:creationId xmlns:a16="http://schemas.microsoft.com/office/drawing/2014/main" id="{4B2439EA-C93A-4438-A110-24F89C29D186}"/>
              </a:ext>
            </a:extLst>
          </p:cNvPr>
          <p:cNvSpPr/>
          <p:nvPr/>
        </p:nvSpPr>
        <p:spPr>
          <a:xfrm>
            <a:off x="4448078" y="4260744"/>
            <a:ext cx="2999127" cy="2052228"/>
          </a:xfrm>
          <a:prstGeom prst="pentagon">
            <a:avLst/>
          </a:prstGeom>
          <a:solidFill>
            <a:srgbClr val="00B0F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Mejorar la rentabilidad operacional total de la compañía.</a:t>
            </a:r>
          </a:p>
        </p:txBody>
      </p:sp>
      <p:sp>
        <p:nvSpPr>
          <p:cNvPr id="14" name="Título 8">
            <a:extLst>
              <a:ext uri="{FF2B5EF4-FFF2-40B4-BE49-F238E27FC236}">
                <a16:creationId xmlns:a16="http://schemas.microsoft.com/office/drawing/2014/main" id="{292D48B6-4730-4A45-8AC8-4E6A93FFC889}"/>
              </a:ext>
            </a:extLst>
          </p:cNvPr>
          <p:cNvSpPr txBox="1">
            <a:spLocks/>
          </p:cNvSpPr>
          <p:nvPr/>
        </p:nvSpPr>
        <p:spPr>
          <a:xfrm>
            <a:off x="7994709" y="744166"/>
            <a:ext cx="2994869" cy="11234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>
              <a:defRPr/>
            </a:pPr>
            <a:r>
              <a:rPr lang="es-ES_tradnl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OBJETIVOS DE CALIDAD</a:t>
            </a:r>
          </a:p>
        </p:txBody>
      </p:sp>
    </p:spTree>
    <p:extLst>
      <p:ext uri="{BB962C8B-B14F-4D97-AF65-F5344CB8AC3E}">
        <p14:creationId xmlns:p14="http://schemas.microsoft.com/office/powerpoint/2010/main" val="192774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5CF49D-01D3-446A-8F42-1F91A3D2A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D7A29DA2-BBE5-4D67-94A0-E8D874DBA77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1947374"/>
          <a:ext cx="10515603" cy="4107839"/>
        </p:xfrm>
        <a:graphic>
          <a:graphicData uri="http://schemas.openxmlformats.org/drawingml/2006/table">
            <a:tbl>
              <a:tblPr/>
              <a:tblGrid>
                <a:gridCol w="2137739">
                  <a:extLst>
                    <a:ext uri="{9D8B030D-6E8A-4147-A177-3AD203B41FA5}">
                      <a16:colId xmlns:a16="http://schemas.microsoft.com/office/drawing/2014/main" val="3250473315"/>
                    </a:ext>
                  </a:extLst>
                </a:gridCol>
                <a:gridCol w="2250252">
                  <a:extLst>
                    <a:ext uri="{9D8B030D-6E8A-4147-A177-3AD203B41FA5}">
                      <a16:colId xmlns:a16="http://schemas.microsoft.com/office/drawing/2014/main" val="930479613"/>
                    </a:ext>
                  </a:extLst>
                </a:gridCol>
                <a:gridCol w="813553">
                  <a:extLst>
                    <a:ext uri="{9D8B030D-6E8A-4147-A177-3AD203B41FA5}">
                      <a16:colId xmlns:a16="http://schemas.microsoft.com/office/drawing/2014/main" val="3044864962"/>
                    </a:ext>
                  </a:extLst>
                </a:gridCol>
                <a:gridCol w="1263603">
                  <a:extLst>
                    <a:ext uri="{9D8B030D-6E8A-4147-A177-3AD203B41FA5}">
                      <a16:colId xmlns:a16="http://schemas.microsoft.com/office/drawing/2014/main" val="3180942193"/>
                    </a:ext>
                  </a:extLst>
                </a:gridCol>
                <a:gridCol w="675076">
                  <a:extLst>
                    <a:ext uri="{9D8B030D-6E8A-4147-A177-3AD203B41FA5}">
                      <a16:colId xmlns:a16="http://schemas.microsoft.com/office/drawing/2014/main" val="1664951810"/>
                    </a:ext>
                  </a:extLst>
                </a:gridCol>
                <a:gridCol w="675076">
                  <a:extLst>
                    <a:ext uri="{9D8B030D-6E8A-4147-A177-3AD203B41FA5}">
                      <a16:colId xmlns:a16="http://schemas.microsoft.com/office/drawing/2014/main" val="797369981"/>
                    </a:ext>
                  </a:extLst>
                </a:gridCol>
                <a:gridCol w="675076">
                  <a:extLst>
                    <a:ext uri="{9D8B030D-6E8A-4147-A177-3AD203B41FA5}">
                      <a16:colId xmlns:a16="http://schemas.microsoft.com/office/drawing/2014/main" val="4010033664"/>
                    </a:ext>
                  </a:extLst>
                </a:gridCol>
                <a:gridCol w="675076">
                  <a:extLst>
                    <a:ext uri="{9D8B030D-6E8A-4147-A177-3AD203B41FA5}">
                      <a16:colId xmlns:a16="http://schemas.microsoft.com/office/drawing/2014/main" val="2331127642"/>
                    </a:ext>
                  </a:extLst>
                </a:gridCol>
                <a:gridCol w="675076">
                  <a:extLst>
                    <a:ext uri="{9D8B030D-6E8A-4147-A177-3AD203B41FA5}">
                      <a16:colId xmlns:a16="http://schemas.microsoft.com/office/drawing/2014/main" val="1567058413"/>
                    </a:ext>
                  </a:extLst>
                </a:gridCol>
                <a:gridCol w="675076">
                  <a:extLst>
                    <a:ext uri="{9D8B030D-6E8A-4147-A177-3AD203B41FA5}">
                      <a16:colId xmlns:a16="http://schemas.microsoft.com/office/drawing/2014/main" val="2129703209"/>
                    </a:ext>
                  </a:extLst>
                </a:gridCol>
              </a:tblGrid>
              <a:tr h="1938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300" b="1">
                          <a:effectLst/>
                          <a:latin typeface="Arial" panose="020B0604020202020204" pitchFamily="34" charset="0"/>
                        </a:rPr>
                        <a:t>INDICADORES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300" b="1">
                          <a:effectLst/>
                          <a:latin typeface="Arial" panose="020B0604020202020204" pitchFamily="34" charset="0"/>
                        </a:rPr>
                        <a:t>FÓRMULAS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300" b="1">
                          <a:effectLst/>
                          <a:latin typeface="Arial" panose="020B0604020202020204" pitchFamily="34" charset="0"/>
                        </a:rPr>
                        <a:t>META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300" b="1">
                          <a:effectLst/>
                          <a:latin typeface="Arial" panose="020B0604020202020204" pitchFamily="34" charset="0"/>
                        </a:rPr>
                        <a:t>FRECUENCIA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300" b="1">
                          <a:effectLst/>
                          <a:latin typeface="Arial" panose="020B0604020202020204" pitchFamily="34" charset="0"/>
                        </a:rPr>
                        <a:t>ENE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300" b="1">
                          <a:effectLst/>
                          <a:latin typeface="Arial" panose="020B0604020202020204" pitchFamily="34" charset="0"/>
                        </a:rPr>
                        <a:t>FEB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300" b="1">
                          <a:effectLst/>
                          <a:latin typeface="Arial" panose="020B0604020202020204" pitchFamily="34" charset="0"/>
                        </a:rPr>
                        <a:t>MAR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300" b="1">
                          <a:effectLst/>
                          <a:latin typeface="Arial" panose="020B0604020202020204" pitchFamily="34" charset="0"/>
                        </a:rPr>
                        <a:t>ABR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300" b="1">
                          <a:effectLst/>
                          <a:latin typeface="Arial" panose="020B0604020202020204" pitchFamily="34" charset="0"/>
                        </a:rPr>
                        <a:t>MAY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300" b="1">
                          <a:effectLst/>
                          <a:latin typeface="Arial" panose="020B0604020202020204" pitchFamily="34" charset="0"/>
                        </a:rPr>
                        <a:t>JUN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593792"/>
                  </a:ext>
                </a:extLst>
              </a:tr>
              <a:tr h="1237639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AUSENTISMO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NUMERO DE HORAS DE PERMISO + INCAPACIDADES + LICENCIAS</a:t>
                      </a:r>
                      <a:br>
                        <a:rPr lang="es-CO" sz="1100" b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/</a:t>
                      </a:r>
                      <a:br>
                        <a:rPr lang="es-CO" sz="1100" b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NUMERO DE HORAS LABORALES TOTALES DE LA PLANTA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≤2%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MENSUAL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300" b="1">
                          <a:effectLst/>
                          <a:latin typeface="Arial" panose="020B0604020202020204" pitchFamily="34" charset="0"/>
                        </a:rPr>
                        <a:t>1.28%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300" b="1">
                          <a:effectLst/>
                          <a:latin typeface="Arial" panose="020B0604020202020204" pitchFamily="34" charset="0"/>
                        </a:rPr>
                        <a:t>0.27%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300" b="1">
                          <a:effectLst/>
                          <a:latin typeface="Arial" panose="020B0604020202020204" pitchFamily="34" charset="0"/>
                        </a:rPr>
                        <a:t>0.28%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es-CO" sz="1600">
                        <a:effectLst/>
                      </a:endParaRP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es-CO" sz="1600">
                        <a:effectLst/>
                      </a:endParaRP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es-CO" sz="1600">
                        <a:effectLst/>
                      </a:endParaRP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842424"/>
                  </a:ext>
                </a:extLst>
              </a:tr>
              <a:tr h="510634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CERO ACCIDENTES DE TRABAJO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NO. ACCIDENTES MENSUALES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MENSUAL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300" b="1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300" b="1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300" b="1"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es-CO" sz="1600">
                        <a:effectLst/>
                      </a:endParaRP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es-CO" sz="1600">
                        <a:effectLst/>
                      </a:endParaRP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es-CO" sz="1600">
                        <a:effectLst/>
                      </a:endParaRP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74396"/>
                  </a:ext>
                </a:extLst>
              </a:tr>
              <a:tr h="640456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%CUMPLIMIENTO A LA PLANEACION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UNDS SOLICITADAS/UNDS ENTREGADAS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90%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MENSUAL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300" b="1">
                          <a:effectLst/>
                          <a:latin typeface="Arial" panose="020B0604020202020204" pitchFamily="34" charset="0"/>
                        </a:rPr>
                        <a:t>86%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300" b="1">
                          <a:effectLst/>
                          <a:latin typeface="Arial" panose="020B0604020202020204" pitchFamily="34" charset="0"/>
                        </a:rPr>
                        <a:t>79%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300" b="1">
                          <a:effectLst/>
                          <a:latin typeface="Arial" panose="020B0604020202020204" pitchFamily="34" charset="0"/>
                        </a:rPr>
                        <a:t>76%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es-CO" sz="1600">
                        <a:effectLst/>
                      </a:endParaRP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es-CO" sz="1600">
                        <a:effectLst/>
                      </a:endParaRP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es-CO" sz="1600">
                        <a:effectLst/>
                      </a:endParaRP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273093"/>
                  </a:ext>
                </a:extLst>
              </a:tr>
              <a:tr h="11857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% PRODUCTOS NO CONFORMES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DEFECTUOSOS INTERNOS</a:t>
                      </a:r>
                      <a:br>
                        <a:rPr lang="es-CO" sz="1100" b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/ </a:t>
                      </a:r>
                      <a:br>
                        <a:rPr lang="es-CO" sz="1100" b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TOTAL PRODUCIDOS 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≤0.25%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MENSUAL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300" b="1">
                          <a:effectLst/>
                          <a:latin typeface="Arial" panose="020B0604020202020204" pitchFamily="34" charset="0"/>
                        </a:rPr>
                        <a:t>0.12%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300" b="1">
                          <a:effectLst/>
                          <a:latin typeface="Arial" panose="020B0604020202020204" pitchFamily="34" charset="0"/>
                        </a:rPr>
                        <a:t>0.23%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300" b="1">
                          <a:effectLst/>
                          <a:latin typeface="Arial" panose="020B0604020202020204" pitchFamily="34" charset="0"/>
                        </a:rPr>
                        <a:t>0.21%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es-CO" sz="1600">
                        <a:effectLst/>
                      </a:endParaRP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es-CO" sz="1600">
                        <a:effectLst/>
                      </a:endParaRP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endParaRPr lang="es-CO" sz="1600">
                        <a:effectLst/>
                      </a:endParaRP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184524"/>
                  </a:ext>
                </a:extLst>
              </a:tr>
              <a:tr h="332345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MEJORA CONTINUA</a:t>
                      </a:r>
                    </a:p>
                  </a:txBody>
                  <a:tcPr marL="25964" marR="25964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100" b="0">
                          <a:effectLst/>
                          <a:latin typeface="Arial" panose="020B0604020202020204" pitchFamily="34" charset="0"/>
                        </a:rPr>
                        <a:t>TOTAL DE MEJORAS DEL SEMESTRE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&gt;3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SEMESTRAL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es-CO" sz="1500" b="1" dirty="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25964" marR="25964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136925"/>
                  </a:ext>
                </a:extLst>
              </a:tr>
            </a:tbl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AA082488-0F92-487E-94F0-69C894F8AB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B60E34A0-FD11-403D-BB81-A7D2A6860AE7}"/>
              </a:ext>
            </a:extLst>
          </p:cNvPr>
          <p:cNvSpPr txBox="1">
            <a:spLocks/>
          </p:cNvSpPr>
          <p:nvPr/>
        </p:nvSpPr>
        <p:spPr>
          <a:xfrm>
            <a:off x="8363757" y="838001"/>
            <a:ext cx="2537222" cy="3798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INDICADORES</a:t>
            </a:r>
            <a:endParaRPr lang="es-CO" sz="3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8606D36A-6BEE-414C-9155-DB9EC2A5B6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967132"/>
              </p:ext>
            </p:extLst>
          </p:nvPr>
        </p:nvGraphicFramePr>
        <p:xfrm>
          <a:off x="306976" y="1896791"/>
          <a:ext cx="11179628" cy="3720238"/>
        </p:xfrm>
        <a:graphic>
          <a:graphicData uri="http://schemas.openxmlformats.org/drawingml/2006/table">
            <a:tbl>
              <a:tblPr/>
              <a:tblGrid>
                <a:gridCol w="1278034">
                  <a:extLst>
                    <a:ext uri="{9D8B030D-6E8A-4147-A177-3AD203B41FA5}">
                      <a16:colId xmlns:a16="http://schemas.microsoft.com/office/drawing/2014/main" val="313102900"/>
                    </a:ext>
                  </a:extLst>
                </a:gridCol>
                <a:gridCol w="1341302">
                  <a:extLst>
                    <a:ext uri="{9D8B030D-6E8A-4147-A177-3AD203B41FA5}">
                      <a16:colId xmlns:a16="http://schemas.microsoft.com/office/drawing/2014/main" val="1755612147"/>
                    </a:ext>
                  </a:extLst>
                </a:gridCol>
                <a:gridCol w="487171">
                  <a:extLst>
                    <a:ext uri="{9D8B030D-6E8A-4147-A177-3AD203B41FA5}">
                      <a16:colId xmlns:a16="http://schemas.microsoft.com/office/drawing/2014/main" val="1155560191"/>
                    </a:ext>
                  </a:extLst>
                </a:gridCol>
                <a:gridCol w="771882">
                  <a:extLst>
                    <a:ext uri="{9D8B030D-6E8A-4147-A177-3AD203B41FA5}">
                      <a16:colId xmlns:a16="http://schemas.microsoft.com/office/drawing/2014/main" val="1606141942"/>
                    </a:ext>
                  </a:extLst>
                </a:gridCol>
                <a:gridCol w="506152">
                  <a:extLst>
                    <a:ext uri="{9D8B030D-6E8A-4147-A177-3AD203B41FA5}">
                      <a16:colId xmlns:a16="http://schemas.microsoft.com/office/drawing/2014/main" val="3918310561"/>
                    </a:ext>
                  </a:extLst>
                </a:gridCol>
                <a:gridCol w="487171">
                  <a:extLst>
                    <a:ext uri="{9D8B030D-6E8A-4147-A177-3AD203B41FA5}">
                      <a16:colId xmlns:a16="http://schemas.microsoft.com/office/drawing/2014/main" val="2274288570"/>
                    </a:ext>
                  </a:extLst>
                </a:gridCol>
                <a:gridCol w="487171">
                  <a:extLst>
                    <a:ext uri="{9D8B030D-6E8A-4147-A177-3AD203B41FA5}">
                      <a16:colId xmlns:a16="http://schemas.microsoft.com/office/drawing/2014/main" val="837171545"/>
                    </a:ext>
                  </a:extLst>
                </a:gridCol>
                <a:gridCol w="487171">
                  <a:extLst>
                    <a:ext uri="{9D8B030D-6E8A-4147-A177-3AD203B41FA5}">
                      <a16:colId xmlns:a16="http://schemas.microsoft.com/office/drawing/2014/main" val="2964955443"/>
                    </a:ext>
                  </a:extLst>
                </a:gridCol>
                <a:gridCol w="468191">
                  <a:extLst>
                    <a:ext uri="{9D8B030D-6E8A-4147-A177-3AD203B41FA5}">
                      <a16:colId xmlns:a16="http://schemas.microsoft.com/office/drawing/2014/main" val="1102680210"/>
                    </a:ext>
                  </a:extLst>
                </a:gridCol>
                <a:gridCol w="487171">
                  <a:extLst>
                    <a:ext uri="{9D8B030D-6E8A-4147-A177-3AD203B41FA5}">
                      <a16:colId xmlns:a16="http://schemas.microsoft.com/office/drawing/2014/main" val="1398468603"/>
                    </a:ext>
                  </a:extLst>
                </a:gridCol>
                <a:gridCol w="487171">
                  <a:extLst>
                    <a:ext uri="{9D8B030D-6E8A-4147-A177-3AD203B41FA5}">
                      <a16:colId xmlns:a16="http://schemas.microsoft.com/office/drawing/2014/main" val="313575880"/>
                    </a:ext>
                  </a:extLst>
                </a:gridCol>
                <a:gridCol w="487171">
                  <a:extLst>
                    <a:ext uri="{9D8B030D-6E8A-4147-A177-3AD203B41FA5}">
                      <a16:colId xmlns:a16="http://schemas.microsoft.com/office/drawing/2014/main" val="3333625137"/>
                    </a:ext>
                  </a:extLst>
                </a:gridCol>
                <a:gridCol w="487171">
                  <a:extLst>
                    <a:ext uri="{9D8B030D-6E8A-4147-A177-3AD203B41FA5}">
                      <a16:colId xmlns:a16="http://schemas.microsoft.com/office/drawing/2014/main" val="1858261362"/>
                    </a:ext>
                  </a:extLst>
                </a:gridCol>
                <a:gridCol w="487171">
                  <a:extLst>
                    <a:ext uri="{9D8B030D-6E8A-4147-A177-3AD203B41FA5}">
                      <a16:colId xmlns:a16="http://schemas.microsoft.com/office/drawing/2014/main" val="3589702450"/>
                    </a:ext>
                  </a:extLst>
                </a:gridCol>
                <a:gridCol w="487171">
                  <a:extLst>
                    <a:ext uri="{9D8B030D-6E8A-4147-A177-3AD203B41FA5}">
                      <a16:colId xmlns:a16="http://schemas.microsoft.com/office/drawing/2014/main" val="2944642253"/>
                    </a:ext>
                  </a:extLst>
                </a:gridCol>
                <a:gridCol w="487171">
                  <a:extLst>
                    <a:ext uri="{9D8B030D-6E8A-4147-A177-3AD203B41FA5}">
                      <a16:colId xmlns:a16="http://schemas.microsoft.com/office/drawing/2014/main" val="857165902"/>
                    </a:ext>
                  </a:extLst>
                </a:gridCol>
                <a:gridCol w="702285">
                  <a:extLst>
                    <a:ext uri="{9D8B030D-6E8A-4147-A177-3AD203B41FA5}">
                      <a16:colId xmlns:a16="http://schemas.microsoft.com/office/drawing/2014/main" val="3028605316"/>
                    </a:ext>
                  </a:extLst>
                </a:gridCol>
                <a:gridCol w="752901">
                  <a:extLst>
                    <a:ext uri="{9D8B030D-6E8A-4147-A177-3AD203B41FA5}">
                      <a16:colId xmlns:a16="http://schemas.microsoft.com/office/drawing/2014/main" val="2510836533"/>
                    </a:ext>
                  </a:extLst>
                </a:gridCol>
              </a:tblGrid>
              <a:tr h="186509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900" b="1">
                          <a:effectLst/>
                          <a:latin typeface="Arial" panose="020B0604020202020204" pitchFamily="34" charset="0"/>
                        </a:rPr>
                        <a:t>INDICADORES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900" b="1">
                          <a:effectLst/>
                          <a:latin typeface="Arial" panose="020B0604020202020204" pitchFamily="34" charset="0"/>
                        </a:rPr>
                        <a:t>FÓRMULAS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600" b="1">
                          <a:effectLst/>
                          <a:latin typeface="Arial" panose="020B0604020202020204" pitchFamily="34" charset="0"/>
                        </a:rPr>
                        <a:t>META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600" b="1">
                          <a:effectLst/>
                          <a:latin typeface="Arial" panose="020B0604020202020204" pitchFamily="34" charset="0"/>
                        </a:rPr>
                        <a:t>FRECUENCIA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900" b="1">
                          <a:effectLst/>
                          <a:latin typeface="Arial" panose="020B0604020202020204" pitchFamily="34" charset="0"/>
                        </a:rPr>
                        <a:t>ENE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900" b="1">
                          <a:effectLst/>
                          <a:latin typeface="Arial" panose="020B0604020202020204" pitchFamily="34" charset="0"/>
                        </a:rPr>
                        <a:t>FEB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900" b="1">
                          <a:effectLst/>
                          <a:latin typeface="Arial" panose="020B0604020202020204" pitchFamily="34" charset="0"/>
                        </a:rPr>
                        <a:t>MAR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900" b="1">
                          <a:effectLst/>
                          <a:latin typeface="Arial" panose="020B0604020202020204" pitchFamily="34" charset="0"/>
                        </a:rPr>
                        <a:t>ABR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900" b="1">
                          <a:effectLst/>
                          <a:latin typeface="Arial" panose="020B0604020202020204" pitchFamily="34" charset="0"/>
                        </a:rPr>
                        <a:t>MAY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900" b="1">
                          <a:effectLst/>
                          <a:latin typeface="Arial" panose="020B0604020202020204" pitchFamily="34" charset="0"/>
                        </a:rPr>
                        <a:t>JUN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900" b="1">
                          <a:effectLst/>
                          <a:latin typeface="Arial" panose="020B0604020202020204" pitchFamily="34" charset="0"/>
                        </a:rPr>
                        <a:t>JUL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900" b="1">
                          <a:effectLst/>
                          <a:latin typeface="Arial" panose="020B0604020202020204" pitchFamily="34" charset="0"/>
                        </a:rPr>
                        <a:t>AGO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effectLst/>
                          <a:latin typeface="Arial" panose="020B0604020202020204" pitchFamily="34" charset="0"/>
                        </a:rPr>
                        <a:t>SEP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effectLst/>
                          <a:latin typeface="Arial" panose="020B0604020202020204" pitchFamily="34" charset="0"/>
                        </a:rPr>
                        <a:t>OCT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1">
                          <a:effectLst/>
                          <a:latin typeface="Arial" panose="020B0604020202020204" pitchFamily="34" charset="0"/>
                        </a:rPr>
                        <a:t>NOV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900" b="1">
                          <a:effectLst/>
                          <a:latin typeface="Arial" panose="020B0604020202020204" pitchFamily="34" charset="0"/>
                        </a:rPr>
                        <a:t>DIC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900" b="1">
                          <a:effectLst/>
                          <a:latin typeface="Arial" panose="020B0604020202020204" pitchFamily="34" charset="0"/>
                        </a:rPr>
                        <a:t>PROMEDIO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500" b="1">
                          <a:effectLst/>
                          <a:latin typeface="Arial" panose="020B0604020202020204" pitchFamily="34" charset="0"/>
                        </a:rPr>
                        <a:t>RESPONSABLE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76474"/>
                  </a:ext>
                </a:extLst>
              </a:tr>
              <a:tr h="419503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s-CO" sz="700" b="0">
                          <a:effectLst/>
                          <a:latin typeface="Arial" panose="020B0604020202020204" pitchFamily="34" charset="0"/>
                        </a:rPr>
                        <a:t>QUEJAS Y RECLAMOS 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700" b="0">
                          <a:effectLst/>
                          <a:latin typeface="Arial" panose="020B0604020202020204" pitchFamily="34" charset="0"/>
                        </a:rPr>
                        <a:t>QUEJAS Y RECLAMOS</a:t>
                      </a:r>
                      <a:br>
                        <a:rPr lang="es-ES" sz="700" b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s-ES" sz="700" b="0">
                          <a:effectLst/>
                          <a:latin typeface="Arial" panose="020B0604020202020204" pitchFamily="34" charset="0"/>
                        </a:rPr>
                        <a:t>/</a:t>
                      </a:r>
                      <a:br>
                        <a:rPr lang="es-ES" sz="700" b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s-ES" sz="700" b="0">
                          <a:effectLst/>
                          <a:latin typeface="Arial" panose="020B0604020202020204" pitchFamily="34" charset="0"/>
                        </a:rPr>
                        <a:t>TOTAL DESPACHOS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700" b="0">
                          <a:effectLst/>
                          <a:latin typeface="Arial" panose="020B0604020202020204" pitchFamily="34" charset="0"/>
                        </a:rPr>
                        <a:t>≤ 2%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700" b="0">
                          <a:effectLst/>
                          <a:latin typeface="Arial" panose="020B0604020202020204" pitchFamily="34" charset="0"/>
                        </a:rPr>
                        <a:t>MENSUAL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dirty="0">
                          <a:effectLst/>
                        </a:rPr>
                        <a:t>1.5%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dirty="0">
                          <a:effectLst/>
                        </a:rPr>
                        <a:t>0.8%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dirty="0">
                          <a:effectLst/>
                        </a:rPr>
                        <a:t>0.7%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dirty="0">
                          <a:effectLst/>
                        </a:rPr>
                        <a:t>2.0%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dirty="0">
                          <a:effectLst/>
                        </a:rPr>
                        <a:t>0.9%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>
                          <a:effectLst/>
                        </a:rPr>
                        <a:t>1%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>
                          <a:effectLst/>
                        </a:rPr>
                        <a:t>0.7%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>
                          <a:effectLst/>
                        </a:rPr>
                        <a:t>0.2%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>
                          <a:effectLst/>
                        </a:rPr>
                        <a:t>1.1%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>
                          <a:effectLst/>
                        </a:rPr>
                        <a:t>0.2%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>
                          <a:effectLst/>
                        </a:rPr>
                        <a:t>1%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>
                          <a:effectLst/>
                        </a:rPr>
                        <a:t>1.2%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600" dirty="0">
                          <a:effectLst/>
                        </a:rPr>
                        <a:t>1%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Directora de SGC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3225246"/>
                  </a:ext>
                </a:extLst>
              </a:tr>
              <a:tr h="41950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700">
                          <a:effectLst/>
                        </a:rPr>
                        <a:t>#de quejas y reclamos recibidas en el mes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600" b="0">
                          <a:effectLst/>
                          <a:latin typeface="Arial" panose="020B0604020202020204" pitchFamily="34" charset="0"/>
                        </a:rPr>
                        <a:t>≤ 3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700" b="0">
                          <a:effectLst/>
                          <a:latin typeface="Arial" panose="020B0604020202020204" pitchFamily="34" charset="0"/>
                        </a:rPr>
                        <a:t>MENSUAL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 dirty="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 dirty="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 dirty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600" dirty="0">
                          <a:effectLst/>
                        </a:rPr>
                        <a:t>3.6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Directora de SGC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265285"/>
                  </a:ext>
                </a:extLst>
              </a:tr>
              <a:tr h="699171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s-ES" sz="700" b="0">
                          <a:effectLst/>
                          <a:latin typeface="Arial" panose="020B0604020202020204" pitchFamily="34" charset="0"/>
                        </a:rPr>
                        <a:t>Eficacia de la solucion de las quejas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700" b="0">
                          <a:effectLst/>
                          <a:latin typeface="Arial" panose="020B0604020202020204" pitchFamily="34" charset="0"/>
                        </a:rPr>
                        <a:t>QUEJAS Y RECLAMOS SOLUCIONADAS</a:t>
                      </a:r>
                      <a:br>
                        <a:rPr lang="es-ES" sz="700" b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s-ES" sz="700" b="0">
                          <a:effectLst/>
                          <a:latin typeface="Arial" panose="020B0604020202020204" pitchFamily="34" charset="0"/>
                        </a:rPr>
                        <a:t>/</a:t>
                      </a:r>
                      <a:br>
                        <a:rPr lang="es-ES" sz="700" b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s-ES" sz="700" b="0">
                          <a:effectLst/>
                          <a:latin typeface="Arial" panose="020B0604020202020204" pitchFamily="34" charset="0"/>
                        </a:rPr>
                        <a:t>QUEJAS Y RECLAMOS RECIBIDAS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700" b="0"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700" b="0">
                          <a:effectLst/>
                          <a:latin typeface="Arial" panose="020B0604020202020204" pitchFamily="34" charset="0"/>
                        </a:rPr>
                        <a:t>MENSUAL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>
                          <a:effectLst/>
                        </a:rPr>
                        <a:t>78%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40%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 dirty="0"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 dirty="0"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 dirty="0"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600" dirty="0">
                          <a:effectLst/>
                        </a:rPr>
                        <a:t>93%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Directora de SGC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5986030"/>
                  </a:ext>
                </a:extLst>
              </a:tr>
              <a:tr h="429699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700" b="0">
                          <a:effectLst/>
                          <a:latin typeface="Arial" panose="020B0604020202020204" pitchFamily="34" charset="0"/>
                        </a:rPr>
                        <a:t>PROMEDIO TIEMPO DE RESPUESTA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700" b="0">
                          <a:effectLst/>
                          <a:latin typeface="Arial" panose="020B0604020202020204" pitchFamily="34" charset="0"/>
                        </a:rPr>
                        <a:t>8 dias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700" b="0">
                          <a:effectLst/>
                          <a:latin typeface="Arial" panose="020B0604020202020204" pitchFamily="34" charset="0"/>
                        </a:rPr>
                        <a:t>MENSUAL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 dirty="0"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 dirty="0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600" dirty="0">
                          <a:effectLst/>
                        </a:rPr>
                        <a:t>6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Directora de SGC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0955460"/>
                  </a:ext>
                </a:extLst>
              </a:tr>
              <a:tr h="5680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700" b="0">
                          <a:effectLst/>
                          <a:latin typeface="Arial" panose="020B0604020202020204" pitchFamily="34" charset="0"/>
                        </a:rPr>
                        <a:t>Mejora continua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700" b="0">
                          <a:effectLst/>
                          <a:latin typeface="Arial" panose="020B0604020202020204" pitchFamily="34" charset="0"/>
                        </a:rPr>
                        <a:t>TOTAL DE MEJORAS DEL SEMESTRE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700" b="0">
                          <a:effectLst/>
                          <a:latin typeface="Arial" panose="020B0604020202020204" pitchFamily="34" charset="0"/>
                        </a:rPr>
                        <a:t>&gt;18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700" b="0">
                          <a:effectLst/>
                          <a:latin typeface="Arial" panose="020B0604020202020204" pitchFamily="34" charset="0"/>
                        </a:rPr>
                        <a:t>SEMESTRAL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rtl="0" fontAlgn="ctr"/>
                      <a:endParaRPr lang="es-CO" sz="1200" dirty="0">
                        <a:effectLst/>
                      </a:endParaRP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600" dirty="0">
                          <a:effectLst/>
                        </a:rPr>
                        <a:t>40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Directora de SGC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4516106"/>
                  </a:ext>
                </a:extLst>
              </a:tr>
              <a:tr h="531662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700">
                          <a:effectLst/>
                        </a:rPr>
                        <a:t>% CUMPLIMIENTO AL PROGRAMA DE AUDITORIAS INTERNAS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700">
                          <a:effectLst/>
                        </a:rPr>
                        <a:t># AUDITORIAS REALIZADAS / </a:t>
                      </a:r>
                      <a:br>
                        <a:rPr lang="es-CO" sz="700">
                          <a:effectLst/>
                        </a:rPr>
                      </a:br>
                      <a:r>
                        <a:rPr lang="es-CO" sz="700">
                          <a:effectLst/>
                        </a:rPr>
                        <a:t># AUDITORIAS PROGRAMADAS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700" b="0">
                          <a:effectLst/>
                          <a:latin typeface="Arial" panose="020B0604020202020204" pitchFamily="34" charset="0"/>
                        </a:rPr>
                        <a:t>90%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700" b="0">
                          <a:effectLst/>
                          <a:latin typeface="Arial" panose="020B0604020202020204" pitchFamily="34" charset="0"/>
                        </a:rPr>
                        <a:t>MENSUAL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effectLst/>
                          <a:latin typeface="Arial" panose="020B0604020202020204" pitchFamily="34" charset="0"/>
                        </a:rPr>
                        <a:t>NA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effectLst/>
                          <a:latin typeface="Arial" panose="020B0604020202020204" pitchFamily="34" charset="0"/>
                        </a:rPr>
                        <a:t>86%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effectLst/>
                          <a:latin typeface="Arial" panose="020B0604020202020204" pitchFamily="34" charset="0"/>
                        </a:rPr>
                        <a:t>NA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>
                          <a:effectLst/>
                          <a:latin typeface="Arial" panose="020B0604020202020204" pitchFamily="34" charset="0"/>
                        </a:rPr>
                        <a:t>NA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400" b="0"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1" dirty="0"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 dirty="0">
                          <a:effectLst/>
                          <a:latin typeface="Arial" panose="020B0604020202020204" pitchFamily="34" charset="0"/>
                        </a:rPr>
                        <a:t>NA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600" dirty="0">
                          <a:effectLst/>
                        </a:rPr>
                        <a:t>98%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Directora de SGC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9672081"/>
                  </a:ext>
                </a:extLst>
              </a:tr>
              <a:tr h="466115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>
                          <a:effectLst/>
                        </a:rPr>
                        <a:t>ESTADO DEL SGC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700">
                          <a:effectLst/>
                        </a:rPr>
                        <a:t># INDICADORES CUMPLIDOS / TOTAL DE INDICADORES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700" b="0">
                          <a:effectLst/>
                          <a:latin typeface="Arial" panose="020B0604020202020204" pitchFamily="34" charset="0"/>
                        </a:rPr>
                        <a:t>90%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700" b="0">
                          <a:effectLst/>
                          <a:latin typeface="Arial" panose="020B0604020202020204" pitchFamily="34" charset="0"/>
                        </a:rPr>
                        <a:t>MENSUAL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68%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66%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effectLst/>
                          <a:latin typeface="Arial" panose="020B0604020202020204" pitchFamily="34" charset="0"/>
                        </a:rPr>
                        <a:t>74%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effectLst/>
                          <a:latin typeface="Arial" panose="020B0604020202020204" pitchFamily="34" charset="0"/>
                        </a:rPr>
                        <a:t>71%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effectLst/>
                          <a:latin typeface="Arial" panose="020B0604020202020204" pitchFamily="34" charset="0"/>
                        </a:rPr>
                        <a:t>76%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63%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76%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74%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>
                          <a:effectLst/>
                          <a:latin typeface="Arial" panose="020B0604020202020204" pitchFamily="34" charset="0"/>
                        </a:rPr>
                        <a:t>70%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200" b="0">
                          <a:effectLst/>
                          <a:latin typeface="Arial" panose="020B0604020202020204" pitchFamily="34" charset="0"/>
                        </a:rPr>
                        <a:t>85%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 dirty="0">
                          <a:effectLst/>
                          <a:latin typeface="Arial" panose="020B0604020202020204" pitchFamily="34" charset="0"/>
                        </a:rPr>
                        <a:t>82%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100" b="0" dirty="0">
                          <a:effectLst/>
                          <a:latin typeface="Arial" panose="020B0604020202020204" pitchFamily="34" charset="0"/>
                        </a:rPr>
                        <a:t>71%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600" dirty="0">
                          <a:solidFill>
                            <a:srgbClr val="FFFFFF"/>
                          </a:solidFill>
                          <a:effectLst/>
                        </a:rPr>
                        <a:t>73%</a:t>
                      </a: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100" dirty="0">
                          <a:effectLst/>
                        </a:rPr>
                        <a:t>TODOS</a:t>
                      </a:r>
                      <a:endParaRPr lang="es-CO" sz="1100" dirty="0">
                        <a:effectLst/>
                      </a:endParaRPr>
                    </a:p>
                  </a:txBody>
                  <a:tcPr marL="17853" marR="17853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0924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068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43A24-B2DE-4423-9268-32CE159D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23DBA154-33C9-4C10-8F59-6F8F9B7D4C4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267825"/>
          <a:ext cx="10515599" cy="3466938"/>
        </p:xfrm>
        <a:graphic>
          <a:graphicData uri="http://schemas.openxmlformats.org/drawingml/2006/table">
            <a:tbl>
              <a:tblPr/>
              <a:tblGrid>
                <a:gridCol w="1075177">
                  <a:extLst>
                    <a:ext uri="{9D8B030D-6E8A-4147-A177-3AD203B41FA5}">
                      <a16:colId xmlns:a16="http://schemas.microsoft.com/office/drawing/2014/main" val="25748199"/>
                    </a:ext>
                  </a:extLst>
                </a:gridCol>
                <a:gridCol w="1124896">
                  <a:extLst>
                    <a:ext uri="{9D8B030D-6E8A-4147-A177-3AD203B41FA5}">
                      <a16:colId xmlns:a16="http://schemas.microsoft.com/office/drawing/2014/main" val="2958512339"/>
                    </a:ext>
                  </a:extLst>
                </a:gridCol>
                <a:gridCol w="621489">
                  <a:extLst>
                    <a:ext uri="{9D8B030D-6E8A-4147-A177-3AD203B41FA5}">
                      <a16:colId xmlns:a16="http://schemas.microsoft.com/office/drawing/2014/main" val="462954941"/>
                    </a:ext>
                  </a:extLst>
                </a:gridCol>
                <a:gridCol w="621489">
                  <a:extLst>
                    <a:ext uri="{9D8B030D-6E8A-4147-A177-3AD203B41FA5}">
                      <a16:colId xmlns:a16="http://schemas.microsoft.com/office/drawing/2014/main" val="3887619773"/>
                    </a:ext>
                  </a:extLst>
                </a:gridCol>
                <a:gridCol w="832796">
                  <a:extLst>
                    <a:ext uri="{9D8B030D-6E8A-4147-A177-3AD203B41FA5}">
                      <a16:colId xmlns:a16="http://schemas.microsoft.com/office/drawing/2014/main" val="192528463"/>
                    </a:ext>
                  </a:extLst>
                </a:gridCol>
                <a:gridCol w="727143">
                  <a:extLst>
                    <a:ext uri="{9D8B030D-6E8A-4147-A177-3AD203B41FA5}">
                      <a16:colId xmlns:a16="http://schemas.microsoft.com/office/drawing/2014/main" val="70112933"/>
                    </a:ext>
                  </a:extLst>
                </a:gridCol>
                <a:gridCol w="621489">
                  <a:extLst>
                    <a:ext uri="{9D8B030D-6E8A-4147-A177-3AD203B41FA5}">
                      <a16:colId xmlns:a16="http://schemas.microsoft.com/office/drawing/2014/main" val="1724391608"/>
                    </a:ext>
                  </a:extLst>
                </a:gridCol>
                <a:gridCol w="621489">
                  <a:extLst>
                    <a:ext uri="{9D8B030D-6E8A-4147-A177-3AD203B41FA5}">
                      <a16:colId xmlns:a16="http://schemas.microsoft.com/office/drawing/2014/main" val="1376358225"/>
                    </a:ext>
                  </a:extLst>
                </a:gridCol>
                <a:gridCol w="621489">
                  <a:extLst>
                    <a:ext uri="{9D8B030D-6E8A-4147-A177-3AD203B41FA5}">
                      <a16:colId xmlns:a16="http://schemas.microsoft.com/office/drawing/2014/main" val="1471263028"/>
                    </a:ext>
                  </a:extLst>
                </a:gridCol>
                <a:gridCol w="776862">
                  <a:extLst>
                    <a:ext uri="{9D8B030D-6E8A-4147-A177-3AD203B41FA5}">
                      <a16:colId xmlns:a16="http://schemas.microsoft.com/office/drawing/2014/main" val="1400160450"/>
                    </a:ext>
                  </a:extLst>
                </a:gridCol>
                <a:gridCol w="621489">
                  <a:extLst>
                    <a:ext uri="{9D8B030D-6E8A-4147-A177-3AD203B41FA5}">
                      <a16:colId xmlns:a16="http://schemas.microsoft.com/office/drawing/2014/main" val="3523170838"/>
                    </a:ext>
                  </a:extLst>
                </a:gridCol>
                <a:gridCol w="801721">
                  <a:extLst>
                    <a:ext uri="{9D8B030D-6E8A-4147-A177-3AD203B41FA5}">
                      <a16:colId xmlns:a16="http://schemas.microsoft.com/office/drawing/2014/main" val="1993857910"/>
                    </a:ext>
                  </a:extLst>
                </a:gridCol>
                <a:gridCol w="683638">
                  <a:extLst>
                    <a:ext uri="{9D8B030D-6E8A-4147-A177-3AD203B41FA5}">
                      <a16:colId xmlns:a16="http://schemas.microsoft.com/office/drawing/2014/main" val="116909157"/>
                    </a:ext>
                  </a:extLst>
                </a:gridCol>
                <a:gridCol w="764432">
                  <a:extLst>
                    <a:ext uri="{9D8B030D-6E8A-4147-A177-3AD203B41FA5}">
                      <a16:colId xmlns:a16="http://schemas.microsoft.com/office/drawing/2014/main" val="3992411556"/>
                    </a:ext>
                  </a:extLst>
                </a:gridCol>
              </a:tblGrid>
              <a:tr h="178989">
                <a:tc>
                  <a:txBody>
                    <a:bodyPr/>
                    <a:lstStyle/>
                    <a:p>
                      <a:pPr rtl="0" fontAlgn="b"/>
                      <a:endParaRPr lang="es-CO" sz="1200">
                        <a:effectLst/>
                      </a:endParaRP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3">
                  <a:txBody>
                    <a:bodyPr/>
                    <a:lstStyle/>
                    <a:p>
                      <a:pPr algn="ctr" rtl="0" fontAlgn="b"/>
                      <a:r>
                        <a:rPr lang="es-CO" sz="1000" b="1">
                          <a:effectLst/>
                        </a:rPr>
                        <a:t>% CUMPLIMIENTO 2025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037056"/>
                  </a:ext>
                </a:extLst>
              </a:tr>
              <a:tr h="159101"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900" b="1">
                          <a:effectLst/>
                        </a:rPr>
                        <a:t>AREA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b="1">
                          <a:effectLst/>
                        </a:rPr>
                        <a:t>ENERO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b="1">
                          <a:effectLst/>
                        </a:rPr>
                        <a:t>FEBRERO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b="1">
                          <a:effectLst/>
                        </a:rPr>
                        <a:t>MARZO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b="1">
                          <a:effectLst/>
                        </a:rPr>
                        <a:t>ABRIL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b="1">
                          <a:effectLst/>
                        </a:rPr>
                        <a:t>MAYO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b="1">
                          <a:effectLst/>
                        </a:rPr>
                        <a:t>JUNIO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b="1">
                          <a:effectLst/>
                        </a:rPr>
                        <a:t>JULIO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b="1">
                          <a:effectLst/>
                        </a:rPr>
                        <a:t>AGOSTO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b="1">
                          <a:effectLst/>
                        </a:rPr>
                        <a:t>SEPTIEMBRE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b="1">
                          <a:effectLst/>
                        </a:rPr>
                        <a:t>OCTUBRE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b="1">
                          <a:effectLst/>
                        </a:rPr>
                        <a:t>NOVIEMBRE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b="1">
                          <a:effectLst/>
                        </a:rPr>
                        <a:t>DICIEMBRE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b="1">
                          <a:effectLst/>
                        </a:rPr>
                        <a:t>PROMEDIO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448300"/>
                  </a:ext>
                </a:extLst>
              </a:tr>
              <a:tr h="178989">
                <a:tc>
                  <a:txBody>
                    <a:bodyPr/>
                    <a:lstStyle/>
                    <a:p>
                      <a:pPr rtl="0" fontAlgn="b"/>
                      <a:r>
                        <a:rPr lang="es-CO" sz="600">
                          <a:effectLst/>
                        </a:rPr>
                        <a:t>ALMACEN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900">
                          <a:effectLst/>
                        </a:rPr>
                        <a:t>96%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381949"/>
                  </a:ext>
                </a:extLst>
              </a:tr>
              <a:tr h="178989">
                <a:tc>
                  <a:txBody>
                    <a:bodyPr/>
                    <a:lstStyle/>
                    <a:p>
                      <a:pPr rtl="0" fontAlgn="b"/>
                      <a:r>
                        <a:rPr lang="es-CO" sz="600">
                          <a:effectLst/>
                        </a:rPr>
                        <a:t>DESPACHOS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solidFill>
                            <a:srgbClr val="FFFFFF"/>
                          </a:solidFill>
                          <a:effectLst/>
                        </a:rPr>
                        <a:t>33%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solidFill>
                            <a:srgbClr val="FFFFFF"/>
                          </a:solidFill>
                          <a:effectLst/>
                        </a:rPr>
                        <a:t>56%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44%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44%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44%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44%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>
                          <a:solidFill>
                            <a:srgbClr val="FFFFFF"/>
                          </a:solidFill>
                          <a:effectLst/>
                        </a:rPr>
                        <a:t>33%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37%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60%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80%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80%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900">
                          <a:solidFill>
                            <a:srgbClr val="FFFFFF"/>
                          </a:solidFill>
                          <a:effectLst/>
                        </a:rPr>
                        <a:t>55%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047435"/>
                  </a:ext>
                </a:extLst>
              </a:tr>
              <a:tr h="178989">
                <a:tc>
                  <a:txBody>
                    <a:bodyPr/>
                    <a:lstStyle/>
                    <a:p>
                      <a:pPr rtl="0" fontAlgn="b"/>
                      <a:r>
                        <a:rPr lang="es-CO" sz="600">
                          <a:effectLst/>
                        </a:rPr>
                        <a:t>MAQUILA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33%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67%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900">
                          <a:effectLst/>
                        </a:rPr>
                        <a:t>88%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937801"/>
                  </a:ext>
                </a:extLst>
              </a:tr>
              <a:tr h="178989">
                <a:tc>
                  <a:txBody>
                    <a:bodyPr/>
                    <a:lstStyle/>
                    <a:p>
                      <a:pPr rtl="0" fontAlgn="b"/>
                      <a:r>
                        <a:rPr lang="es-CO" sz="600">
                          <a:effectLst/>
                        </a:rPr>
                        <a:t>CARTERA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solidFill>
                            <a:srgbClr val="FFFFFF"/>
                          </a:solidFill>
                          <a:effectLst/>
                        </a:rPr>
                        <a:t>40%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20%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20%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20%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60%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33%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900">
                          <a:solidFill>
                            <a:srgbClr val="FFFFFF"/>
                          </a:solidFill>
                          <a:effectLst/>
                        </a:rPr>
                        <a:t>58%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690472"/>
                  </a:ext>
                </a:extLst>
              </a:tr>
              <a:tr h="178989">
                <a:tc>
                  <a:txBody>
                    <a:bodyPr/>
                    <a:lstStyle/>
                    <a:p>
                      <a:pPr rtl="0" fontAlgn="b"/>
                      <a:r>
                        <a:rPr lang="es-CO" sz="600">
                          <a:effectLst/>
                        </a:rPr>
                        <a:t>COMPRAS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solidFill>
                            <a:srgbClr val="FFFFFF"/>
                          </a:solidFill>
                          <a:effectLst/>
                        </a:rPr>
                        <a:t>25%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25%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80%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25%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900">
                          <a:solidFill>
                            <a:srgbClr val="FFFFFF"/>
                          </a:solidFill>
                          <a:effectLst/>
                        </a:rPr>
                        <a:t>48%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33003"/>
                  </a:ext>
                </a:extLst>
              </a:tr>
              <a:tr h="178989">
                <a:tc>
                  <a:txBody>
                    <a:bodyPr/>
                    <a:lstStyle/>
                    <a:p>
                      <a:pPr rtl="0" fontAlgn="b"/>
                      <a:r>
                        <a:rPr lang="es-CO" sz="600">
                          <a:effectLst/>
                        </a:rPr>
                        <a:t>GESTION HUMANA Y SST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effectLst/>
                        </a:rPr>
                        <a:t>83%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effectLst/>
                        </a:rPr>
                        <a:t>83%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67%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83%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900">
                          <a:effectLst/>
                        </a:rPr>
                        <a:t>93%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968341"/>
                  </a:ext>
                </a:extLst>
              </a:tr>
              <a:tr h="178989">
                <a:tc>
                  <a:txBody>
                    <a:bodyPr/>
                    <a:lstStyle/>
                    <a:p>
                      <a:pPr rtl="0" fontAlgn="b"/>
                      <a:r>
                        <a:rPr lang="es-CO" sz="600">
                          <a:effectLst/>
                        </a:rPr>
                        <a:t>MANTENIMIENTO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effectLst/>
                        </a:rPr>
                        <a:t>85%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93%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86%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77%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86%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93%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>
                          <a:effectLst/>
                        </a:rPr>
                        <a:t>93%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78%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86%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83%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83%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70%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900">
                          <a:effectLst/>
                        </a:rPr>
                        <a:t>84%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673048"/>
                  </a:ext>
                </a:extLst>
              </a:tr>
              <a:tr h="178989">
                <a:tc>
                  <a:txBody>
                    <a:bodyPr/>
                    <a:lstStyle/>
                    <a:p>
                      <a:pPr rtl="0" fontAlgn="b"/>
                      <a:r>
                        <a:rPr lang="es-CO" sz="600">
                          <a:effectLst/>
                        </a:rPr>
                        <a:t>MERCADEO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solidFill>
                            <a:srgbClr val="FFFFFF"/>
                          </a:solidFill>
                          <a:effectLst/>
                        </a:rPr>
                        <a:t>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33%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>
                          <a:solidFill>
                            <a:srgbClr val="FFFFFF"/>
                          </a:solidFill>
                          <a:effectLst/>
                        </a:rPr>
                        <a:t>67%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67%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40%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67%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67%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900">
                          <a:solidFill>
                            <a:srgbClr val="FFFFFF"/>
                          </a:solidFill>
                          <a:effectLst/>
                        </a:rPr>
                        <a:t>53%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637693"/>
                  </a:ext>
                </a:extLst>
              </a:tr>
              <a:tr h="178989">
                <a:tc>
                  <a:txBody>
                    <a:bodyPr/>
                    <a:lstStyle/>
                    <a:p>
                      <a:pPr rtl="0" fontAlgn="b"/>
                      <a:r>
                        <a:rPr lang="es-CO" sz="600">
                          <a:effectLst/>
                        </a:rPr>
                        <a:t>COMERCIAL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solidFill>
                            <a:srgbClr val="FFFFFF"/>
                          </a:solidFill>
                          <a:effectLst/>
                        </a:rPr>
                        <a:t>33%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solidFill>
                            <a:srgbClr val="FFFFFF"/>
                          </a:solidFill>
                          <a:effectLst/>
                        </a:rPr>
                        <a:t>60%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80%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40%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40%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>
                          <a:solidFill>
                            <a:srgbClr val="FFFFFF"/>
                          </a:solidFill>
                          <a:effectLst/>
                        </a:rPr>
                        <a:t>20%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20%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60%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60%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20%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900">
                          <a:solidFill>
                            <a:srgbClr val="FFFFFF"/>
                          </a:solidFill>
                          <a:effectLst/>
                        </a:rPr>
                        <a:t>47%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692182"/>
                  </a:ext>
                </a:extLst>
              </a:tr>
              <a:tr h="178989">
                <a:tc>
                  <a:txBody>
                    <a:bodyPr/>
                    <a:lstStyle/>
                    <a:p>
                      <a:pPr rtl="0" fontAlgn="b"/>
                      <a:r>
                        <a:rPr lang="es-CO" sz="600">
                          <a:effectLst/>
                        </a:rPr>
                        <a:t>CALIDAD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effectLst/>
                        </a:rPr>
                        <a:t>71%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89%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89%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89%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>
                          <a:effectLst/>
                        </a:rPr>
                        <a:t>89%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88%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900">
                          <a:effectLst/>
                        </a:rPr>
                        <a:t>93%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196825"/>
                  </a:ext>
                </a:extLst>
              </a:tr>
              <a:tr h="178989">
                <a:tc>
                  <a:txBody>
                    <a:bodyPr/>
                    <a:lstStyle/>
                    <a:p>
                      <a:pPr rtl="0" fontAlgn="b"/>
                      <a:r>
                        <a:rPr lang="es-CO" sz="600">
                          <a:effectLst/>
                        </a:rPr>
                        <a:t>LABORATORIO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67%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900">
                          <a:effectLst/>
                        </a:rPr>
                        <a:t>97%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448011"/>
                  </a:ext>
                </a:extLst>
              </a:tr>
              <a:tr h="178989">
                <a:tc>
                  <a:txBody>
                    <a:bodyPr/>
                    <a:lstStyle/>
                    <a:p>
                      <a:pPr rtl="0" fontAlgn="b"/>
                      <a:r>
                        <a:rPr lang="es-CO" sz="600">
                          <a:effectLst/>
                        </a:rPr>
                        <a:t>CONFECCION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900">
                          <a:solidFill>
                            <a:srgbClr val="FFFFFF"/>
                          </a:solidFill>
                          <a:effectLst/>
                        </a:rPr>
                        <a:t>63%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597033"/>
                  </a:ext>
                </a:extLst>
              </a:tr>
              <a:tr h="178989">
                <a:tc>
                  <a:txBody>
                    <a:bodyPr/>
                    <a:lstStyle/>
                    <a:p>
                      <a:pPr rtl="0" fontAlgn="b"/>
                      <a:r>
                        <a:rPr lang="es-CO" sz="600">
                          <a:effectLst/>
                        </a:rPr>
                        <a:t>TEJIDOS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900">
                          <a:solidFill>
                            <a:srgbClr val="FFFFFF"/>
                          </a:solidFill>
                          <a:effectLst/>
                        </a:rPr>
                        <a:t>67%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1519360"/>
                  </a:ext>
                </a:extLst>
              </a:tr>
              <a:tr h="178989">
                <a:tc>
                  <a:txBody>
                    <a:bodyPr/>
                    <a:lstStyle/>
                    <a:p>
                      <a:pPr rtl="0" fontAlgn="b"/>
                      <a:r>
                        <a:rPr lang="es-CO" sz="600">
                          <a:effectLst/>
                        </a:rPr>
                        <a:t>PLASTICOS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25%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80%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900">
                          <a:solidFill>
                            <a:srgbClr val="FFFFFF"/>
                          </a:solidFill>
                          <a:effectLst/>
                        </a:rPr>
                        <a:t>67%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849912"/>
                  </a:ext>
                </a:extLst>
              </a:tr>
              <a:tr h="178989">
                <a:tc>
                  <a:txBody>
                    <a:bodyPr/>
                    <a:lstStyle/>
                    <a:p>
                      <a:pPr rtl="0" fontAlgn="b"/>
                      <a:r>
                        <a:rPr lang="es-CO" sz="600">
                          <a:effectLst/>
                        </a:rPr>
                        <a:t>SGC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solidFill>
                            <a:srgbClr val="FFFFFF"/>
                          </a:solidFill>
                          <a:effectLst/>
                        </a:rPr>
                        <a:t>67%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80%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40%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80%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60%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80%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900">
                          <a:effectLst/>
                        </a:rPr>
                        <a:t>80%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81893"/>
                  </a:ext>
                </a:extLst>
              </a:tr>
              <a:tr h="178989">
                <a:tc>
                  <a:txBody>
                    <a:bodyPr/>
                    <a:lstStyle/>
                    <a:p>
                      <a:pPr rtl="0" fontAlgn="b"/>
                      <a:r>
                        <a:rPr lang="es-CO" sz="600">
                          <a:effectLst/>
                        </a:rPr>
                        <a:t>DISEÑO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8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40%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900">
                          <a:effectLst/>
                        </a:rPr>
                        <a:t>91%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29312"/>
                  </a:ext>
                </a:extLst>
              </a:tr>
              <a:tr h="198877"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600" b="1">
                          <a:effectLst/>
                        </a:rPr>
                        <a:t>PROMEDIO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300" b="1">
                          <a:solidFill>
                            <a:srgbClr val="FFFFFF"/>
                          </a:solidFill>
                          <a:effectLst/>
                        </a:rPr>
                        <a:t>68%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300" b="1">
                          <a:solidFill>
                            <a:srgbClr val="FFFFFF"/>
                          </a:solidFill>
                          <a:effectLst/>
                        </a:rPr>
                        <a:t>69%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300" b="1">
                          <a:effectLst/>
                        </a:rPr>
                        <a:t>76%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b="1">
                          <a:effectLst/>
                        </a:rPr>
                        <a:t>71%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b="1">
                          <a:effectLst/>
                        </a:rPr>
                        <a:t>76%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b="1">
                          <a:solidFill>
                            <a:srgbClr val="FFFFFF"/>
                          </a:solidFill>
                          <a:effectLst/>
                        </a:rPr>
                        <a:t>63%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b="1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b="1">
                          <a:effectLst/>
                        </a:rPr>
                        <a:t>73%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b="1">
                          <a:effectLst/>
                        </a:rPr>
                        <a:t>71%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b="1">
                          <a:effectLst/>
                        </a:rPr>
                        <a:t>85%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b="1">
                          <a:effectLst/>
                        </a:rPr>
                        <a:t>83%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b="1">
                          <a:effectLst/>
                        </a:rPr>
                        <a:t>71%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b="1" dirty="0">
                          <a:effectLst/>
                        </a:rPr>
                        <a:t>74%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029656"/>
                  </a:ext>
                </a:extLst>
              </a:tr>
            </a:tbl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44AB3159-6189-48BE-BEF7-A9CEFFC68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6AFBAFD0-4E35-4FE5-B0E7-BC440E905CCD}"/>
              </a:ext>
            </a:extLst>
          </p:cNvPr>
          <p:cNvSpPr txBox="1">
            <a:spLocks/>
          </p:cNvSpPr>
          <p:nvPr/>
        </p:nvSpPr>
        <p:spPr>
          <a:xfrm>
            <a:off x="7001691" y="1027906"/>
            <a:ext cx="4606835" cy="3798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INDICADORES 2025</a:t>
            </a:r>
            <a:endParaRPr lang="es-CO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7BDCA7F6-FDFA-43B4-8070-35D61F3D1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18585"/>
              </p:ext>
            </p:extLst>
          </p:nvPr>
        </p:nvGraphicFramePr>
        <p:xfrm>
          <a:off x="385354" y="1695530"/>
          <a:ext cx="11040292" cy="4596304"/>
        </p:xfrm>
        <a:graphic>
          <a:graphicData uri="http://schemas.openxmlformats.org/drawingml/2006/table">
            <a:tbl>
              <a:tblPr/>
              <a:tblGrid>
                <a:gridCol w="1128825">
                  <a:extLst>
                    <a:ext uri="{9D8B030D-6E8A-4147-A177-3AD203B41FA5}">
                      <a16:colId xmlns:a16="http://schemas.microsoft.com/office/drawing/2014/main" val="347632258"/>
                    </a:ext>
                  </a:extLst>
                </a:gridCol>
                <a:gridCol w="1181025">
                  <a:extLst>
                    <a:ext uri="{9D8B030D-6E8A-4147-A177-3AD203B41FA5}">
                      <a16:colId xmlns:a16="http://schemas.microsoft.com/office/drawing/2014/main" val="1731245935"/>
                    </a:ext>
                  </a:extLst>
                </a:gridCol>
                <a:gridCol w="652499">
                  <a:extLst>
                    <a:ext uri="{9D8B030D-6E8A-4147-A177-3AD203B41FA5}">
                      <a16:colId xmlns:a16="http://schemas.microsoft.com/office/drawing/2014/main" val="522047275"/>
                    </a:ext>
                  </a:extLst>
                </a:gridCol>
                <a:gridCol w="652499">
                  <a:extLst>
                    <a:ext uri="{9D8B030D-6E8A-4147-A177-3AD203B41FA5}">
                      <a16:colId xmlns:a16="http://schemas.microsoft.com/office/drawing/2014/main" val="2560091530"/>
                    </a:ext>
                  </a:extLst>
                </a:gridCol>
                <a:gridCol w="874350">
                  <a:extLst>
                    <a:ext uri="{9D8B030D-6E8A-4147-A177-3AD203B41FA5}">
                      <a16:colId xmlns:a16="http://schemas.microsoft.com/office/drawing/2014/main" val="3336041564"/>
                    </a:ext>
                  </a:extLst>
                </a:gridCol>
                <a:gridCol w="763425">
                  <a:extLst>
                    <a:ext uri="{9D8B030D-6E8A-4147-A177-3AD203B41FA5}">
                      <a16:colId xmlns:a16="http://schemas.microsoft.com/office/drawing/2014/main" val="3695974500"/>
                    </a:ext>
                  </a:extLst>
                </a:gridCol>
                <a:gridCol w="652499">
                  <a:extLst>
                    <a:ext uri="{9D8B030D-6E8A-4147-A177-3AD203B41FA5}">
                      <a16:colId xmlns:a16="http://schemas.microsoft.com/office/drawing/2014/main" val="988589142"/>
                    </a:ext>
                  </a:extLst>
                </a:gridCol>
                <a:gridCol w="652499">
                  <a:extLst>
                    <a:ext uri="{9D8B030D-6E8A-4147-A177-3AD203B41FA5}">
                      <a16:colId xmlns:a16="http://schemas.microsoft.com/office/drawing/2014/main" val="2147846000"/>
                    </a:ext>
                  </a:extLst>
                </a:gridCol>
                <a:gridCol w="652499">
                  <a:extLst>
                    <a:ext uri="{9D8B030D-6E8A-4147-A177-3AD203B41FA5}">
                      <a16:colId xmlns:a16="http://schemas.microsoft.com/office/drawing/2014/main" val="755053368"/>
                    </a:ext>
                  </a:extLst>
                </a:gridCol>
                <a:gridCol w="815625">
                  <a:extLst>
                    <a:ext uri="{9D8B030D-6E8A-4147-A177-3AD203B41FA5}">
                      <a16:colId xmlns:a16="http://schemas.microsoft.com/office/drawing/2014/main" val="2419863194"/>
                    </a:ext>
                  </a:extLst>
                </a:gridCol>
                <a:gridCol w="652499">
                  <a:extLst>
                    <a:ext uri="{9D8B030D-6E8A-4147-A177-3AD203B41FA5}">
                      <a16:colId xmlns:a16="http://schemas.microsoft.com/office/drawing/2014/main" val="4288667577"/>
                    </a:ext>
                  </a:extLst>
                </a:gridCol>
                <a:gridCol w="841724">
                  <a:extLst>
                    <a:ext uri="{9D8B030D-6E8A-4147-A177-3AD203B41FA5}">
                      <a16:colId xmlns:a16="http://schemas.microsoft.com/office/drawing/2014/main" val="2038448004"/>
                    </a:ext>
                  </a:extLst>
                </a:gridCol>
                <a:gridCol w="717749">
                  <a:extLst>
                    <a:ext uri="{9D8B030D-6E8A-4147-A177-3AD203B41FA5}">
                      <a16:colId xmlns:a16="http://schemas.microsoft.com/office/drawing/2014/main" val="1090273974"/>
                    </a:ext>
                  </a:extLst>
                </a:gridCol>
                <a:gridCol w="802575">
                  <a:extLst>
                    <a:ext uri="{9D8B030D-6E8A-4147-A177-3AD203B41FA5}">
                      <a16:colId xmlns:a16="http://schemas.microsoft.com/office/drawing/2014/main" val="1987690740"/>
                    </a:ext>
                  </a:extLst>
                </a:gridCol>
              </a:tblGrid>
              <a:tr h="239933">
                <a:tc>
                  <a:txBody>
                    <a:bodyPr/>
                    <a:lstStyle/>
                    <a:p>
                      <a:pPr rtl="0" fontAlgn="b"/>
                      <a:endParaRPr lang="es-CO" sz="1200">
                        <a:effectLst/>
                      </a:endParaRP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3">
                  <a:txBody>
                    <a:bodyPr/>
                    <a:lstStyle/>
                    <a:p>
                      <a:pPr algn="ctr" rtl="0" fontAlgn="b"/>
                      <a:r>
                        <a:rPr lang="es-CO" sz="1000" b="1">
                          <a:effectLst/>
                        </a:rPr>
                        <a:t>% CUMPLIMIENTO 2025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821294"/>
                  </a:ext>
                </a:extLst>
              </a:tr>
              <a:tr h="208736"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900" b="1">
                          <a:effectLst/>
                        </a:rPr>
                        <a:t>AREA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b="1">
                          <a:effectLst/>
                        </a:rPr>
                        <a:t>ENERO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b="1">
                          <a:effectLst/>
                        </a:rPr>
                        <a:t>FEBRERO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b="1">
                          <a:effectLst/>
                        </a:rPr>
                        <a:t>MARZO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b="1">
                          <a:effectLst/>
                        </a:rPr>
                        <a:t>ABRIL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b="1">
                          <a:effectLst/>
                        </a:rPr>
                        <a:t>MAYO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b="1">
                          <a:effectLst/>
                        </a:rPr>
                        <a:t>JUNIO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b="1">
                          <a:effectLst/>
                        </a:rPr>
                        <a:t>JULIO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b="1">
                          <a:effectLst/>
                        </a:rPr>
                        <a:t>AGOSTO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b="1">
                          <a:effectLst/>
                        </a:rPr>
                        <a:t>SEPTIEMBRE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b="1">
                          <a:effectLst/>
                        </a:rPr>
                        <a:t>OCTUBRE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b="1">
                          <a:effectLst/>
                        </a:rPr>
                        <a:t>NOVIEMBRE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b="1">
                          <a:effectLst/>
                        </a:rPr>
                        <a:t>DICIEMBRE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b="1">
                          <a:effectLst/>
                        </a:rPr>
                        <a:t>PROMEDIO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081431"/>
                  </a:ext>
                </a:extLst>
              </a:tr>
              <a:tr h="239933">
                <a:tc>
                  <a:txBody>
                    <a:bodyPr/>
                    <a:lstStyle/>
                    <a:p>
                      <a:pPr rtl="0" fontAlgn="b"/>
                      <a:r>
                        <a:rPr lang="es-CO" sz="900" dirty="0">
                          <a:effectLst/>
                        </a:rPr>
                        <a:t>ALMACEN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dirty="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dirty="0">
                          <a:effectLst/>
                        </a:rPr>
                        <a:t>96%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455809"/>
                  </a:ext>
                </a:extLst>
              </a:tr>
              <a:tr h="239933">
                <a:tc>
                  <a:txBody>
                    <a:bodyPr/>
                    <a:lstStyle/>
                    <a:p>
                      <a:pPr rtl="0" fontAlgn="b"/>
                      <a:r>
                        <a:rPr lang="es-CO" sz="900" dirty="0">
                          <a:effectLst/>
                          <a:highlight>
                            <a:srgbClr val="FFFF00"/>
                          </a:highlight>
                        </a:rPr>
                        <a:t>DESPACHOS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dirty="0">
                          <a:solidFill>
                            <a:srgbClr val="FFFFFF"/>
                          </a:solidFill>
                          <a:effectLst/>
                        </a:rPr>
                        <a:t>33%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dirty="0">
                          <a:solidFill>
                            <a:srgbClr val="FFFFFF"/>
                          </a:solidFill>
                          <a:effectLst/>
                        </a:rPr>
                        <a:t>56%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44%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dirty="0">
                          <a:solidFill>
                            <a:srgbClr val="FFFFFF"/>
                          </a:solidFill>
                          <a:effectLst/>
                        </a:rPr>
                        <a:t>44%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44%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44%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33%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37%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60%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80%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80%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dirty="0">
                          <a:solidFill>
                            <a:srgbClr val="FFFFFF"/>
                          </a:solidFill>
                          <a:effectLst/>
                        </a:rPr>
                        <a:t>55%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86096"/>
                  </a:ext>
                </a:extLst>
              </a:tr>
              <a:tr h="239933">
                <a:tc>
                  <a:txBody>
                    <a:bodyPr/>
                    <a:lstStyle/>
                    <a:p>
                      <a:pPr rtl="0" fontAlgn="b"/>
                      <a:r>
                        <a:rPr lang="es-CO" sz="900" dirty="0">
                          <a:effectLst/>
                        </a:rPr>
                        <a:t>MAQUILA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33%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dirty="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dirty="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67%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dirty="0">
                          <a:effectLst/>
                        </a:rPr>
                        <a:t>88%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208904"/>
                  </a:ext>
                </a:extLst>
              </a:tr>
              <a:tr h="239933">
                <a:tc>
                  <a:txBody>
                    <a:bodyPr/>
                    <a:lstStyle/>
                    <a:p>
                      <a:pPr rtl="0" fontAlgn="b"/>
                      <a:r>
                        <a:rPr lang="es-CO" sz="900" dirty="0">
                          <a:effectLst/>
                          <a:highlight>
                            <a:srgbClr val="FFFF00"/>
                          </a:highlight>
                        </a:rPr>
                        <a:t>CARTERA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40%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20%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20%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20%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dirty="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60%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33%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58%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940284"/>
                  </a:ext>
                </a:extLst>
              </a:tr>
              <a:tr h="239933">
                <a:tc>
                  <a:txBody>
                    <a:bodyPr/>
                    <a:lstStyle/>
                    <a:p>
                      <a:pPr rtl="0" fontAlgn="b"/>
                      <a:r>
                        <a:rPr lang="es-CO" sz="900" dirty="0">
                          <a:effectLst/>
                          <a:highlight>
                            <a:srgbClr val="FFFF00"/>
                          </a:highlight>
                        </a:rPr>
                        <a:t>COMPRAS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25%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25%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 dirty="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80%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25%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48%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980220"/>
                  </a:ext>
                </a:extLst>
              </a:tr>
              <a:tr h="239933">
                <a:tc>
                  <a:txBody>
                    <a:bodyPr/>
                    <a:lstStyle/>
                    <a:p>
                      <a:pPr rtl="0" fontAlgn="b"/>
                      <a:r>
                        <a:rPr lang="es-CO" sz="900">
                          <a:effectLst/>
                        </a:rPr>
                        <a:t>GESTION HUMANA Y SST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83%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83%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67%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dirty="0">
                          <a:effectLst/>
                        </a:rPr>
                        <a:t>83%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dirty="0">
                          <a:effectLst/>
                        </a:rPr>
                        <a:t>93%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790106"/>
                  </a:ext>
                </a:extLst>
              </a:tr>
              <a:tr h="239933">
                <a:tc>
                  <a:txBody>
                    <a:bodyPr/>
                    <a:lstStyle/>
                    <a:p>
                      <a:pPr rtl="0" fontAlgn="b"/>
                      <a:r>
                        <a:rPr lang="es-CO" sz="900" dirty="0">
                          <a:effectLst/>
                        </a:rPr>
                        <a:t>MANTENIMIENTO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85%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93%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86%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77%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86%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93%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>
                          <a:effectLst/>
                        </a:rPr>
                        <a:t>93%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dirty="0">
                          <a:effectLst/>
                        </a:rPr>
                        <a:t>78%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86%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83%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83%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70%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effectLst/>
                        </a:rPr>
                        <a:t>84%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947624"/>
                  </a:ext>
                </a:extLst>
              </a:tr>
              <a:tr h="239933">
                <a:tc>
                  <a:txBody>
                    <a:bodyPr/>
                    <a:lstStyle/>
                    <a:p>
                      <a:pPr rtl="0" fontAlgn="b"/>
                      <a:r>
                        <a:rPr lang="es-CO" sz="900" dirty="0">
                          <a:effectLst/>
                          <a:highlight>
                            <a:srgbClr val="FFFF00"/>
                          </a:highlight>
                        </a:rPr>
                        <a:t>MERCADEO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dirty="0">
                          <a:solidFill>
                            <a:srgbClr val="FFFFFF"/>
                          </a:solidFill>
                          <a:effectLst/>
                        </a:rPr>
                        <a:t>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33%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67%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67%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dirty="0">
                          <a:solidFill>
                            <a:srgbClr val="FFFFFF"/>
                          </a:solidFill>
                          <a:effectLst/>
                        </a:rPr>
                        <a:t>40%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67%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67%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dirty="0">
                          <a:solidFill>
                            <a:srgbClr val="FFFFFF"/>
                          </a:solidFill>
                          <a:effectLst/>
                        </a:rPr>
                        <a:t>53%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521252"/>
                  </a:ext>
                </a:extLst>
              </a:tr>
              <a:tr h="239933">
                <a:tc>
                  <a:txBody>
                    <a:bodyPr/>
                    <a:lstStyle/>
                    <a:p>
                      <a:pPr rtl="0" fontAlgn="b"/>
                      <a:r>
                        <a:rPr lang="es-CO" sz="900" dirty="0">
                          <a:effectLst/>
                          <a:highlight>
                            <a:srgbClr val="FFFF00"/>
                          </a:highlight>
                        </a:rPr>
                        <a:t>COMERCIAL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33%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60%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80%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40%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40%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20%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20%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dirty="0">
                          <a:solidFill>
                            <a:srgbClr val="FFFFFF"/>
                          </a:solidFill>
                          <a:effectLst/>
                        </a:rPr>
                        <a:t>60%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60%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20%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>
                          <a:solidFill>
                            <a:srgbClr val="FFFFFF"/>
                          </a:solidFill>
                          <a:effectLst/>
                        </a:rPr>
                        <a:t>47%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940784"/>
                  </a:ext>
                </a:extLst>
              </a:tr>
              <a:tr h="239933">
                <a:tc>
                  <a:txBody>
                    <a:bodyPr/>
                    <a:lstStyle/>
                    <a:p>
                      <a:pPr rtl="0" fontAlgn="b"/>
                      <a:r>
                        <a:rPr lang="es-CO" sz="900" dirty="0">
                          <a:effectLst/>
                        </a:rPr>
                        <a:t>CALIDAD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71%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89%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89%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89%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>
                          <a:effectLst/>
                        </a:rPr>
                        <a:t>89%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88%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dirty="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dirty="0">
                          <a:effectLst/>
                        </a:rPr>
                        <a:t>93%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191855"/>
                  </a:ext>
                </a:extLst>
              </a:tr>
              <a:tr h="239933">
                <a:tc>
                  <a:txBody>
                    <a:bodyPr/>
                    <a:lstStyle/>
                    <a:p>
                      <a:pPr rtl="0" fontAlgn="b"/>
                      <a:r>
                        <a:rPr lang="es-CO" sz="900" dirty="0">
                          <a:effectLst/>
                        </a:rPr>
                        <a:t>LABORATORIO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dirty="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67%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dirty="0">
                          <a:effectLst/>
                        </a:rPr>
                        <a:t>97%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684607"/>
                  </a:ext>
                </a:extLst>
              </a:tr>
              <a:tr h="239933">
                <a:tc>
                  <a:txBody>
                    <a:bodyPr/>
                    <a:lstStyle/>
                    <a:p>
                      <a:pPr rtl="0" fontAlgn="b"/>
                      <a:r>
                        <a:rPr lang="es-CO" sz="900" dirty="0">
                          <a:effectLst/>
                          <a:highlight>
                            <a:srgbClr val="FFFF00"/>
                          </a:highlight>
                        </a:rPr>
                        <a:t>CONFECCION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dirty="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dirty="0">
                          <a:solidFill>
                            <a:srgbClr val="FFFFFF"/>
                          </a:solidFill>
                          <a:effectLst/>
                        </a:rPr>
                        <a:t>63%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50799"/>
                  </a:ext>
                </a:extLst>
              </a:tr>
              <a:tr h="239933">
                <a:tc>
                  <a:txBody>
                    <a:bodyPr/>
                    <a:lstStyle/>
                    <a:p>
                      <a:pPr rtl="0" fontAlgn="b"/>
                      <a:r>
                        <a:rPr lang="es-CO" sz="900" dirty="0">
                          <a:effectLst/>
                          <a:highlight>
                            <a:srgbClr val="FFFF00"/>
                          </a:highlight>
                        </a:rPr>
                        <a:t>TEJIDOS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dirty="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dirty="0">
                          <a:solidFill>
                            <a:srgbClr val="FFFFFF"/>
                          </a:solidFill>
                          <a:effectLst/>
                        </a:rPr>
                        <a:t>67%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601412"/>
                  </a:ext>
                </a:extLst>
              </a:tr>
              <a:tr h="239933">
                <a:tc>
                  <a:txBody>
                    <a:bodyPr/>
                    <a:lstStyle/>
                    <a:p>
                      <a:pPr rtl="0" fontAlgn="b"/>
                      <a:r>
                        <a:rPr lang="es-CO" sz="900" dirty="0">
                          <a:effectLst/>
                          <a:highlight>
                            <a:srgbClr val="FFFF00"/>
                          </a:highlight>
                        </a:rPr>
                        <a:t>PLASTICOS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25%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dirty="0">
                          <a:effectLst/>
                        </a:rPr>
                        <a:t>80%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dirty="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dirty="0">
                          <a:solidFill>
                            <a:srgbClr val="FFFFFF"/>
                          </a:solidFill>
                          <a:effectLst/>
                        </a:rPr>
                        <a:t>67%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97789"/>
                  </a:ext>
                </a:extLst>
              </a:tr>
              <a:tr h="239933">
                <a:tc>
                  <a:txBody>
                    <a:bodyPr/>
                    <a:lstStyle/>
                    <a:p>
                      <a:pPr rtl="0" fontAlgn="b"/>
                      <a:r>
                        <a:rPr lang="es-CO" sz="900" dirty="0">
                          <a:effectLst/>
                        </a:rPr>
                        <a:t>SGC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67%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80%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40%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80%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60%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80%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dirty="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dirty="0">
                          <a:effectLst/>
                        </a:rPr>
                        <a:t>80%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593992"/>
                  </a:ext>
                </a:extLst>
              </a:tr>
              <a:tr h="239933">
                <a:tc>
                  <a:txBody>
                    <a:bodyPr/>
                    <a:lstStyle/>
                    <a:p>
                      <a:pPr rtl="0" fontAlgn="b"/>
                      <a:r>
                        <a:rPr lang="es-CO" sz="900" dirty="0">
                          <a:effectLst/>
                        </a:rPr>
                        <a:t>DISEÑO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50%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solidFill>
                            <a:srgbClr val="FFFFFF"/>
                          </a:solidFill>
                          <a:effectLst/>
                        </a:rPr>
                        <a:t>40%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dirty="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000" dirty="0">
                          <a:effectLst/>
                        </a:rPr>
                        <a:t>100%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dirty="0">
                          <a:effectLst/>
                        </a:rPr>
                        <a:t>91%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996136"/>
                  </a:ext>
                </a:extLst>
              </a:tr>
              <a:tr h="260920"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900" b="1" dirty="0">
                          <a:effectLst/>
                        </a:rPr>
                        <a:t>PROMEDIO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300" b="1">
                          <a:solidFill>
                            <a:srgbClr val="FFFFFF"/>
                          </a:solidFill>
                          <a:effectLst/>
                        </a:rPr>
                        <a:t>68%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300" b="1">
                          <a:solidFill>
                            <a:srgbClr val="FFFFFF"/>
                          </a:solidFill>
                          <a:effectLst/>
                        </a:rPr>
                        <a:t>69%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300" b="1">
                          <a:effectLst/>
                        </a:rPr>
                        <a:t>76%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b="1">
                          <a:effectLst/>
                        </a:rPr>
                        <a:t>71%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b="1">
                          <a:effectLst/>
                        </a:rPr>
                        <a:t>76%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b="1">
                          <a:solidFill>
                            <a:srgbClr val="FFFFFF"/>
                          </a:solidFill>
                          <a:effectLst/>
                        </a:rPr>
                        <a:t>63%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b="1">
                          <a:effectLst/>
                        </a:rPr>
                        <a:t>75%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b="1">
                          <a:effectLst/>
                        </a:rPr>
                        <a:t>73%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b="1">
                          <a:effectLst/>
                        </a:rPr>
                        <a:t>71%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b="1">
                          <a:effectLst/>
                        </a:rPr>
                        <a:t>85%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b="1" dirty="0">
                          <a:effectLst/>
                        </a:rPr>
                        <a:t>83%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200" b="1" dirty="0">
                          <a:effectLst/>
                        </a:rPr>
                        <a:t>71%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800" b="1" dirty="0">
                          <a:effectLst/>
                        </a:rPr>
                        <a:t>74%</a:t>
                      </a:r>
                    </a:p>
                  </a:txBody>
                  <a:tcPr marL="18645" marR="18645" marT="0" marB="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662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9477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A882FEE-F50D-4135-A8B7-1C4F3F02D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6"/>
            <a:ext cx="12192000" cy="68458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6118" y="769558"/>
            <a:ext cx="4883331" cy="688612"/>
          </a:xfrm>
        </p:spPr>
        <p:txBody>
          <a:bodyPr>
            <a:normAutofit fontScale="90000"/>
          </a:bodyPr>
          <a:lstStyle/>
          <a:p>
            <a:pPr algn="ctr"/>
            <a:r>
              <a:rPr lang="es-CO" b="1" dirty="0"/>
              <a:t>No Conformidades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20AB1CC-D152-4FB0-966E-1336D50B126B}"/>
              </a:ext>
            </a:extLst>
          </p:cNvPr>
          <p:cNvSpPr/>
          <p:nvPr/>
        </p:nvSpPr>
        <p:spPr>
          <a:xfrm>
            <a:off x="526866" y="1862691"/>
            <a:ext cx="10681065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/>
              <a:t>¿Qué son?</a:t>
            </a:r>
            <a:br>
              <a:rPr lang="es-ES" sz="2000" dirty="0"/>
            </a:br>
            <a:r>
              <a:rPr lang="es-ES" sz="2000" dirty="0"/>
              <a:t>Incumplimiento de un requisito del cliente, la norma ISO 9001 o un procedimiento interno.</a:t>
            </a:r>
          </a:p>
          <a:p>
            <a:r>
              <a:rPr lang="es-ES" sz="2000" b="1" dirty="0"/>
              <a:t>Ejemplos:</a:t>
            </a:r>
            <a:endParaRPr lang="es-E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000" dirty="0"/>
              <a:t>No seguir un procedimiento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 dirty="0"/>
              <a:t>Producto defectuoso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 dirty="0"/>
              <a:t>Registro incompleto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 dirty="0"/>
              <a:t>Quejas del cliente</a:t>
            </a:r>
          </a:p>
          <a:p>
            <a:r>
              <a:rPr lang="es-ES" sz="2000" b="1" dirty="0"/>
              <a:t>¿Cómo se reportan?</a:t>
            </a:r>
            <a:endParaRPr lang="es-ES" sz="2000" dirty="0"/>
          </a:p>
          <a:p>
            <a:pPr>
              <a:buFont typeface="+mj-lt"/>
              <a:buAutoNum type="arabicPeriod"/>
            </a:pPr>
            <a:r>
              <a:rPr lang="es-ES" sz="2000" dirty="0"/>
              <a:t>Identificar el problema</a:t>
            </a:r>
          </a:p>
          <a:p>
            <a:pPr>
              <a:buFont typeface="+mj-lt"/>
              <a:buAutoNum type="arabicPeriod"/>
            </a:pPr>
            <a:r>
              <a:rPr lang="es-ES" sz="2000" dirty="0"/>
              <a:t>Informar al líder o al SGC</a:t>
            </a:r>
          </a:p>
          <a:p>
            <a:pPr>
              <a:buFont typeface="+mj-lt"/>
              <a:buAutoNum type="arabicPeriod"/>
            </a:pPr>
            <a:r>
              <a:rPr lang="es-ES" sz="2000" dirty="0"/>
              <a:t>Registrar en el formato de No Conformidad</a:t>
            </a:r>
          </a:p>
          <a:p>
            <a:pPr>
              <a:buFont typeface="+mj-lt"/>
              <a:buAutoNum type="arabicPeriod"/>
            </a:pPr>
            <a:r>
              <a:rPr lang="es-ES" sz="2000" dirty="0"/>
              <a:t>Definir acción correctiva</a:t>
            </a:r>
          </a:p>
          <a:p>
            <a:pPr>
              <a:buFont typeface="+mj-lt"/>
              <a:buAutoNum type="arabicPeriod"/>
            </a:pPr>
            <a:r>
              <a:rPr lang="es-ES" sz="2000" dirty="0"/>
              <a:t>Verificar que no vuelva a ocurrir</a:t>
            </a:r>
          </a:p>
        </p:txBody>
      </p:sp>
      <p:sp>
        <p:nvSpPr>
          <p:cNvPr id="8" name="Recortar rectángulo de esquina diagonal 5">
            <a:extLst>
              <a:ext uri="{FF2B5EF4-FFF2-40B4-BE49-F238E27FC236}">
                <a16:creationId xmlns:a16="http://schemas.microsoft.com/office/drawing/2014/main" id="{12B23297-F764-4E6F-BFAA-2E6A86BAED74}"/>
              </a:ext>
            </a:extLst>
          </p:cNvPr>
          <p:cNvSpPr/>
          <p:nvPr/>
        </p:nvSpPr>
        <p:spPr>
          <a:xfrm>
            <a:off x="5462273" y="5632083"/>
            <a:ext cx="4158462" cy="648072"/>
          </a:xfrm>
          <a:prstGeom prst="snip2Diag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tx1"/>
                </a:solidFill>
              </a:rPr>
              <a:t>MANEJO DE NO CONFORMES</a:t>
            </a:r>
            <a:endParaRPr lang="es-CO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6874A292-7EBB-4E1B-A511-886FBF0C6D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F1C5FA1-5D70-36ED-3143-08A278E0E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7353" y="2613560"/>
            <a:ext cx="4499973" cy="688612"/>
          </a:xfrm>
        </p:spPr>
        <p:txBody>
          <a:bodyPr>
            <a:noAutofit/>
          </a:bodyPr>
          <a:lstStyle/>
          <a:p>
            <a:pPr algn="ctr"/>
            <a:r>
              <a:rPr lang="es-CO" sz="4000" dirty="0"/>
              <a:t>Internas y externas de ISO 9001 y de producto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8B8434-6DC3-890E-816C-9EFA8DE366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  <a:p>
            <a:endParaRPr lang="es-CO" dirty="0"/>
          </a:p>
        </p:txBody>
      </p:sp>
      <p:sp>
        <p:nvSpPr>
          <p:cNvPr id="8" name="Doble onda 7">
            <a:extLst>
              <a:ext uri="{FF2B5EF4-FFF2-40B4-BE49-F238E27FC236}">
                <a16:creationId xmlns:a16="http://schemas.microsoft.com/office/drawing/2014/main" id="{23A5C0FC-CDBD-4E41-8F2D-541670716064}"/>
              </a:ext>
            </a:extLst>
          </p:cNvPr>
          <p:cNvSpPr/>
          <p:nvPr/>
        </p:nvSpPr>
        <p:spPr>
          <a:xfrm>
            <a:off x="1294303" y="2600908"/>
            <a:ext cx="2880321" cy="1656184"/>
          </a:xfrm>
          <a:prstGeom prst="doubleWave">
            <a:avLst/>
          </a:prstGeom>
          <a:solidFill>
            <a:srgbClr val="99FF66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>
                <a:solidFill>
                  <a:schemeClr val="tx1"/>
                </a:solidFill>
              </a:rPr>
              <a:t>1. MATERIAS PRIMAS</a:t>
            </a:r>
          </a:p>
          <a:p>
            <a:r>
              <a:rPr lang="es-ES" dirty="0">
                <a:solidFill>
                  <a:schemeClr val="tx1"/>
                </a:solidFill>
              </a:rPr>
              <a:t>2. INSUMOS</a:t>
            </a:r>
          </a:p>
          <a:p>
            <a:r>
              <a:rPr lang="es-ES" dirty="0">
                <a:solidFill>
                  <a:schemeClr val="tx1"/>
                </a:solidFill>
              </a:rPr>
              <a:t>3. PRODUCTO EN PROCESO</a:t>
            </a:r>
          </a:p>
          <a:p>
            <a:r>
              <a:rPr lang="es-ES" dirty="0">
                <a:solidFill>
                  <a:schemeClr val="tx1"/>
                </a:solidFill>
              </a:rPr>
              <a:t>4. PRODUCTO TERMINADO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B6B0CA2-6340-4CB6-B10C-AAA377C60655}"/>
              </a:ext>
            </a:extLst>
          </p:cNvPr>
          <p:cNvSpPr txBox="1">
            <a:spLocks/>
          </p:cNvSpPr>
          <p:nvPr/>
        </p:nvSpPr>
        <p:spPr>
          <a:xfrm>
            <a:off x="6777353" y="872330"/>
            <a:ext cx="4883331" cy="6886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b="1" dirty="0"/>
              <a:t>AUDITORIAS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BFB80AF-5AFC-4431-A352-40F5C8E9DD0A}"/>
              </a:ext>
            </a:extLst>
          </p:cNvPr>
          <p:cNvSpPr/>
          <p:nvPr/>
        </p:nvSpPr>
        <p:spPr>
          <a:xfrm>
            <a:off x="899988" y="1873715"/>
            <a:ext cx="36689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dirty="0"/>
              <a:t>LIBERACION DE LOTE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4ED6A39-E354-448B-9B14-BFD91F4E05AE}"/>
              </a:ext>
            </a:extLst>
          </p:cNvPr>
          <p:cNvSpPr txBox="1">
            <a:spLocks/>
          </p:cNvSpPr>
          <p:nvPr/>
        </p:nvSpPr>
        <p:spPr>
          <a:xfrm>
            <a:off x="5403850" y="4497318"/>
            <a:ext cx="4883331" cy="6886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b="1" dirty="0"/>
              <a:t>COMPROMISO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CF5618D2-5964-4773-88D7-60AD77FC0BA9}"/>
              </a:ext>
            </a:extLst>
          </p:cNvPr>
          <p:cNvSpPr txBox="1">
            <a:spLocks/>
          </p:cNvSpPr>
          <p:nvPr/>
        </p:nvSpPr>
        <p:spPr>
          <a:xfrm>
            <a:off x="4962072" y="5609974"/>
            <a:ext cx="5766889" cy="6886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dirty="0"/>
              <a:t>La responsabilidad del SGC es de todo el personal de la empresa</a:t>
            </a:r>
          </a:p>
        </p:txBody>
      </p:sp>
    </p:spTree>
    <p:extLst>
      <p:ext uri="{BB962C8B-B14F-4D97-AF65-F5344CB8AC3E}">
        <p14:creationId xmlns:p14="http://schemas.microsoft.com/office/powerpoint/2010/main" val="2777422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2DB3EC-4423-54EF-5B76-3A98DBF74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s-ES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699D2C-E8AB-A033-1EC4-4FB02B3A2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43784D1-5264-0F0A-41B1-C354DA7D2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6A1FF39-62A6-BD87-AFB8-36B78ED910E3}"/>
              </a:ext>
            </a:extLst>
          </p:cNvPr>
          <p:cNvSpPr txBox="1"/>
          <p:nvPr/>
        </p:nvSpPr>
        <p:spPr>
          <a:xfrm>
            <a:off x="4068447" y="3576333"/>
            <a:ext cx="470032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GRACIAS</a:t>
            </a:r>
            <a:endParaRPr lang="es-CO" sz="9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246903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1105</TotalTime>
  <Words>1695</Words>
  <Application>Microsoft Office PowerPoint</Application>
  <PresentationFormat>Panorámica</PresentationFormat>
  <Paragraphs>759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Aptos</vt:lpstr>
      <vt:lpstr>Arial</vt:lpstr>
      <vt:lpstr>Arial Narrow</vt:lpstr>
      <vt:lpstr>Bradley Hand ITC</vt:lpstr>
      <vt:lpstr>Calibri</vt:lpstr>
      <vt:lpstr>Calibri Light</vt:lpstr>
      <vt:lpstr>Tema de Office</vt:lpstr>
      <vt:lpstr> </vt:lpstr>
      <vt:lpstr> </vt:lpstr>
      <vt:lpstr>Presentación de PowerPoint</vt:lpstr>
      <vt:lpstr>Presentación de PowerPoint</vt:lpstr>
      <vt:lpstr> </vt:lpstr>
      <vt:lpstr>Presentación de PowerPoint</vt:lpstr>
      <vt:lpstr> </vt:lpstr>
      <vt:lpstr> </vt:lpstr>
      <vt:lpstr>Presentación de PowerPoint</vt:lpstr>
      <vt:lpstr>Presentación de PowerPoint</vt:lpstr>
      <vt:lpstr>Presentación de PowerPoint</vt:lpstr>
      <vt:lpstr>No Conformidades</vt:lpstr>
      <vt:lpstr>Internas y externas de ISO 9001 y de producto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David</dc:creator>
  <cp:lastModifiedBy>Sandra Angel Ocampo</cp:lastModifiedBy>
  <cp:revision>58</cp:revision>
  <dcterms:created xsi:type="dcterms:W3CDTF">2024-03-22T13:34:27Z</dcterms:created>
  <dcterms:modified xsi:type="dcterms:W3CDTF">2026-02-02T20:24:58Z</dcterms:modified>
</cp:coreProperties>
</file>